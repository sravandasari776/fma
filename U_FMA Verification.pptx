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this project is the RTL and the verification of a floating-point fused multiply-add unit for AI accelerators, taken from the IEEE TCASAI 2025 paper by Niknia et al. The unit computes A plus B times C and rounds only once. It supports seven number formats and two operating modes. In the next minutes: why such a unit is needed, how it works inside, and how we proved it computes the right answer, including eight real bugs that verification found and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Neural networks tolerate low precision in the multiplications, so accelerators store weights and activations in 8-bit formats like E4M3 and E5M2, or 16-bit ones. But a neuron sums hundreds or thousands of products, and doing that sum in 8 bits would lose almost everything to rounding. So the sum must be kept wider. The unit in the paper does exactly this mix: low-precision multiplies feeding a higher-precision accumulation, and it rounds only once, which is what fused multiply-add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example of why fused matters. B and C are the smallest number above 1 in single precision. Their exact product has a tiny tail, 2 to the minus 46. A is minus the rounded product. If you multiply, round, then add, the tail is gone and you get exactly zero. A fused unit keeps the product exact and returns 2 to the minus 46, which is the true answer. This is the defining property of an FMA, and it is one of the regression tests. Worth saying: the original RTL got this wrong, it returned 2 to the minus 36, because it cut the product to 24 bits. That was bug B5, fixed by keeping the full 48-bit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floating-point number is sign, exponent, mantissa: value = 1.mantissa times 2 to the power exponent minus bias. The leading 1 is not stored; it is called the hidden bit. The seven formats differ only in how many bits go to the exponent (range) versus the mantissa (precision). E4M3 has only 3 mantissa bits, SP has 23. The trick in this design: every operand is first converted into one internal form, a sign, a signed exponent, and a 24-bit significand with the hidden bit at the top. Narrow formats are just zero-padded, which does not change their value. So one datapath handles all seven formats. The paper uses segmented hardware to save area; this implementation chose the simpler unified form for correctness, and that is listed as a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hardware works in two modes, selected by mixmode_i on every cycle. In multiple-precision mode it is several independent FMAs side by side: four 8-bit lanes, two 16-bit lanes, or one 32-bit. Each lane is its own A plus B times C. In mixed-precision mode it computes one dot product: a wide addend, say single precision, plus four 8-bit products or two 16-bit products, all added and rounded once. That is the AI accumulation case. The format is chosen by two inputs: a 2-bit size class and a 4-bit exponent width, per operand group. The operands are packed into the low 32 bits of the 64-bit buses: bytes for 8-bit lanes, halfwords for 16-bit.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design follows Fig. 3 of the paper, one RTL file per block. Stage 1 unpacks the operands into the common form and multiplies B times C with a radix-4 Booth multiplier. Stage 2 picks the largest term, the anchor, and shifts every other term right to line up with it; terms with the opposite sign are bit-inverted. A carry-save tree squeezes five terms into two. Stage 3 does the one real carry-propagate add, makes the result positive, and finds the leading one. Stage 4 normalizes, rounds to nearest-even, fixes the exponent and sign, and packs the output. There is a register after stages 1, 2 and 3, so it accepts one operation per clock and each result comes out three clock edges later. The accumulator is 76 bits, as the spec says: a sign bit, three headroom bits so five large terms cannot overflow, the full 48-bit product, guard bits, and a sticky jam bit that remembers lost low bits with the right sign. That layout is what fixed bugs B1, B3, B4 and B5.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pipeline concrete, here is one mixed-precision operation with values taken directly from the RTL in simulation, not worked by hand. The addend is 1.0 in half precision, and the four E4M3 products are 2 times 3, minus 1 times 0.5, 1.5 times 1, and 0.25 times 1. Stage 1 unpacks and multiplies, and keeps every product exact. Stage 2 finds the largest term, the product 6 with exponent 2; that is the anchor. Every other term is shifted right to line up: the addend by 2, the products by 0, 3, 2 and 4. The minus 0.5 has the opposite sign, so it is bit-inverted, and its plus 1 is added later by a small counter. Stage 3 adds everything in one carry-propagate add: 8.25. It is positive, so no complement is needed, and the leading 1 is one place too high, so the exponent goes up by 1. Stage 4 shifts right by 1, gets 1.03125 times 2 cubed, which fits exactly in half precision, and packs it as 0x4820, which is 8.25. The full hex trace is in docs/DESIGN_EXPLAINED.md section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the answers are right? Three layers, all self-checking, so nobody decides pass or fail by looking at waveforms. Layer 1 is the golden model: a Python program that decodes each operand into an exact fraction, computes the whole sum with no rounding at all, and rounds once at the end. It is written independently of the RTL, so the same mistake cannot sit in both. It also follows the IEEE rules for NaN, infinity and signed zero. Layer 2 is 28 unit testbenches, one per block, each with its own small reference model; if something breaks, they tell you which block. Layer 3 is the system regression: 10,743 vectors pushed through the full FMA back-to-back, one per clock, with the mode and format changing almost every cycle, and every output compared bit for bit. On top of that, the regression gives identical results on two different simulators, and I ran five extra random seeds, 53,715 more vectors, as a stress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results. All 10,743 system vectors match the golden model bit for bit; that is 17,139 individual FMA results, because the 8-bit and 16-bit vectors carry four and two lanes each. All 28 unit testbenches pass, 46,837 individual checks. All thirteen items of the spec's sign-off checklist, F01 to F13, pass, and the next slides show what they are. And the result is not a simulator artifact: Cadence Xcelium and Vivado xsim give identical results. For context: when I started, the original regression stood at 909 out of 925.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vectors alone mostly test easy cases, so most of the regression is aimed at the corners where FMA designs go wrong. MUL and MIX are random, but half of them are built so that the addend nearly cancels the product, which stresses normalization. SPECIAL uses NaN, infinities, zeros and extreme values. CANCEL sets A to minus the rounded product, so the true answer is the tiny rounding error, the hardest FMA case. TIE constructs results that lie exactly halfway between two representable numbers, to test round-to-even. OVF and UNF hit the top and bottom of every format's range, including subnormal results. HEADROOM adds five maximal terms of the same sign, the accumulator overflow case from the spec. ANCHOR makes each product lane the largest in turn, plus ties. DIR holds hand-checked cases, including one for every bug found. The vectors are shuffled, so the mode and format switch almost every cycle, which also tests spec item F13: no state leaks from one operation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striking bug verification found. In mixed-precision mode, 1.75 plus four products of 1.75 times 1 should be 8.75. The original RTL returned minus 7.25: wrong value and wrong sign. The reason: the accumulator was 40 bits with only two headroom bits above the hidden bit, and adding five terms of almost 2 each needs three. The sum overflowed into the sign bit. The spec itself warns about this in item F09, a 3-bit overflow from four products plus the addend. The key lesson: every unit test passed, because each block was correct in isolation. The bug lived in how the blocks were sized relative to each other, and only system-level tests with targeted vectors could find it. The fix was widening the accumulator to the 76 bits the spec calls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bugs. The original regression had 16 failures, attributed to one cause. Decoding them showed three separate bugs. B1: single-precision products were cut to 24 bits, losing the guard bit, so results came out one unit in the last place low. B2: subnormal results were rounded at normal precision and then truncated, which is double rounding; now normalization stops at the minimum exponent and the value is rounded once. B3: when a negated term lost low bits, the design assumed the lost part always adds, which is wrong for negative sums; a sticky jam bit now carries the sign of the lost part. Directed tests then found five more that random tests never hit. B4, the overflow on the previous slide. B5, the exact cancellation from slide 3. B6, B7 and B8 are IEEE special-value errors: minus infinity came out plus, infinity minus infinity was not NaN, and minus zero plus minus zero was not minus zero. For B7 and B8 the golden model had the same mistake, so the two agreed on a wrong answer; both were fixed. Every bug now has a named regression vector, so it cannot come back unnoticed.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spec, MPFMA-DS-001 section 13, lists thirteen verification requirements, F01 to F13, and the report generator maps every test to them automatically. F01 to F03 are correctness in every format and lane independence. F04 to F06 are the three mixed-precision combinations. F07 is anchor selection. F08 subnormal inputs, F09 the five-term overflow, F10 rounding including ties, F11 the exponent widths used by the seven formats (width 7 is not used by any format). F12 is full throughput: one operation per clock with a fixed latency. F13 is switching modes every cycle with no leakage. All pass. The one item from the spec's sign-off list not done in this phase is synthesis, area and timing; that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part. First, run_all.sh at the repository root: it runs all 28 unit testbenches, regenerates the vectors from the golden model, runs the full regression, and prints the report, all in about two minutes; the last lines say ALL PASS. Second, tb/run_sim.sh with --demo --gui runs 40 hand-picked operations, one per format and mode plus every bug case, and opens SimVision. The testbench adds view signals that show the numbers as ordinary decimals: view_in shows the operation going in, view_out shows the result coming out three clocks later next to the expected value, and view_mismatch stays at zero. Good cases to point at: DIR_BUG4_headroom_pos, which shows 8.75, and DIR_BUG5_SP_exact_cancel. Third, the generated report, docs/VERIFICATION_REPORT.md, decodes every result into plain arithmetic: the operands, the exact answer, the correctly rounded answer, and what the hardware gave. Tip: rehearse the GUI step once on the lab machine before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upfront about limits. The one known limitation: in mixed mode, up to five terms are added in one fixed 76-bit accumulator lined up to the largest term. A term about 70 powers of two smaller than the largest falls off the bottom, and only a sticky bit remembers it. That only matters if the in-range terms cancel exactly or land exactly on a rounding tie, where the tiny term would decide the answer. The stress test found 3 such cases in 53,715 vectors, all in mixed mode, all decoded in DEVIATIONS.md. It is inherent to any fixed-width accumulator, including the paper's, which is also 76 bits; an exact answer would need over 500 bits for BFloat16. Plain A plus B times C in multiple-precision mode is never affected. The deviations from the paper are deliberate trade-offs of area for simplicity and verifiability, and synthesis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First, the RTL is complete: all 29 blocks of the paper's figure, seven formats, both modes, a four-stage pipeline, in plain Verilog. Second, it is verified bit-exact against an independently written exact-arithmetic model, on 10,743 targeted vectors, all thirteen spec sign-off items, and two different simulators. Third, and the part I would stress: verification found eight real bugs that the original tests missed, from one-ULP rounding errors to an overflow that flipped the sign of the answer. Each is fixed and guarded by its own regression vector. Next steps would be synthesis with Cadence Genus at 45 nanometres to compare area and timing against the paper, a concurrent leading-zero anticipator for timing, and a wider accumulator for the mixed-mode corner case.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DB7F5"/>
                </a:solidFill>
                <a:latin typeface="IBM Plex Sans" pitchFamily="34" charset="0"/>
                <a:ea typeface="IBM Plex Sans" pitchFamily="34" charset="-122"/>
                <a:cs typeface="IBM Plex Sans" pitchFamily="34" charset="-120"/>
              </a:rPr>
              <a:t>FLOATING-POINT FUSED MULTIPLY-ADD · RTL DESIGN AND VERIFICATION</a:t>
            </a:r>
            <a:endParaRPr lang="en-US" sz="1200" dirty="0"/>
          </a:p>
        </p:txBody>
      </p:sp>
      <p:sp>
        <p:nvSpPr>
          <p:cNvPr id="3" name="Text 1"/>
          <p:cNvSpPr/>
          <p:nvPr/>
        </p:nvSpPr>
        <p:spPr>
          <a:xfrm>
            <a:off x="812800" y="21539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F5F1"/>
                </a:solidFill>
                <a:latin typeface="IBM Plex Sans" pitchFamily="34" charset="0"/>
                <a:ea typeface="IBM Plex Sans" pitchFamily="34" charset="-122"/>
                <a:cs typeface="IBM Plex Sans" pitchFamily="34" charset="-120"/>
              </a:rPr>
              <a:t>A configurable mixed-precision FMA</a:t>
            </a:r>
            <a:endParaRPr lang="en-US" sz="6000" dirty="0"/>
          </a:p>
        </p:txBody>
      </p:sp>
      <p:sp>
        <p:nvSpPr>
          <p:cNvPr id="4" name="Text 2"/>
          <p:cNvSpPr/>
          <p:nvPr/>
        </p:nvSpPr>
        <p:spPr>
          <a:xfrm>
            <a:off x="812800" y="395734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8DB7F5"/>
                </a:solidFill>
                <a:latin typeface="JetBrains Mono" pitchFamily="34" charset="0"/>
                <a:ea typeface="JetBrains Mono" pitchFamily="34" charset="-122"/>
                <a:cs typeface="JetBrains Mono" pitchFamily="34" charset="-120"/>
              </a:rPr>
              <a:t>dout = A + B × C, rounded once</a:t>
            </a:r>
            <a:endParaRPr lang="en-US" sz="2200" dirty="0"/>
          </a:p>
        </p:txBody>
      </p:sp>
      <p:sp>
        <p:nvSpPr>
          <p:cNvPr id="5" name="Text 3"/>
          <p:cNvSpPr/>
          <p:nvPr/>
        </p:nvSpPr>
        <p:spPr>
          <a:xfrm>
            <a:off x="812800" y="5476280"/>
            <a:ext cx="3098051"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[Your name] · [Guide] · [Institute]</a:t>
            </a:r>
            <a:endParaRPr lang="en-US" sz="1600" dirty="0"/>
          </a:p>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[Date of submission]</a:t>
            </a:r>
            <a:endParaRPr lang="en-US" sz="1600" dirty="0"/>
          </a:p>
        </p:txBody>
      </p:sp>
      <p:sp>
        <p:nvSpPr>
          <p:cNvPr id="6" name="Text 4"/>
          <p:cNvSpPr/>
          <p:nvPr/>
        </p:nvSpPr>
        <p:spPr>
          <a:xfrm>
            <a:off x="7864397" y="5618559"/>
            <a:ext cx="3514803" cy="45204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After Niknia et al., IEEE TCASAI vol. 2, no. 3, 2025</a:t>
            </a:r>
            <a:endParaRPr lang="en-US" sz="1200" dirty="0"/>
          </a:p>
          <a:p>
            <a:pPr algn="r"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Block spec MPFMA-DS-001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WHY THIS UNIT EXISTS</a:t>
            </a:r>
            <a:endParaRPr lang="en-US" sz="1200" dirty="0"/>
          </a:p>
        </p:txBody>
      </p:sp>
      <p:sp>
        <p:nvSpPr>
          <p:cNvPr id="3" name="Text 1"/>
          <p:cNvSpPr/>
          <p:nvPr/>
        </p:nvSpPr>
        <p:spPr>
          <a:xfrm>
            <a:off x="812800" y="13309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AI hardware multiplies in 8 bits but must add in 16 or 32</a:t>
            </a:r>
            <a:endParaRPr lang="en-US" sz="3600" dirty="0"/>
          </a:p>
        </p:txBody>
      </p:sp>
      <p:sp>
        <p:nvSpPr>
          <p:cNvPr id="4" name="Shape 2"/>
          <p:cNvSpPr/>
          <p:nvPr/>
        </p:nvSpPr>
        <p:spPr>
          <a:xfrm>
            <a:off x="815975" y="2644577"/>
            <a:ext cx="3380284" cy="2251571"/>
          </a:xfrm>
          <a:prstGeom prst="roundRect">
            <a:avLst>
              <a:gd name="adj" fmla="val 4371"/>
            </a:avLst>
          </a:prstGeom>
          <a:solidFill>
            <a:srgbClr val="FCFBF8"/>
          </a:solidFill>
          <a:ln w="6350">
            <a:solidFill>
              <a:srgbClr val="DDD9CE"/>
            </a:solidFill>
            <a:prstDash val="solid"/>
          </a:ln>
        </p:spPr>
      </p:sp>
      <p:sp>
        <p:nvSpPr>
          <p:cNvPr id="5" name="Text 3"/>
          <p:cNvSpPr/>
          <p:nvPr/>
        </p:nvSpPr>
        <p:spPr>
          <a:xfrm>
            <a:off x="1073150" y="2901752"/>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1 · MULTIPLY SMALL</a:t>
            </a:r>
            <a:endParaRPr lang="en-US" sz="1200" dirty="0"/>
          </a:p>
        </p:txBody>
      </p:sp>
      <p:sp>
        <p:nvSpPr>
          <p:cNvPr id="6" name="Text 4"/>
          <p:cNvSpPr/>
          <p:nvPr/>
        </p:nvSpPr>
        <p:spPr>
          <a:xfrm>
            <a:off x="1073150" y="3216672"/>
            <a:ext cx="2951912"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Weights and activations live in 8-bit E4M3/E5M2 or 16-bit formats: small, cheap multipliers, many in parallel.</a:t>
            </a:r>
            <a:endParaRPr lang="en-US" sz="1600" dirty="0"/>
          </a:p>
        </p:txBody>
      </p:sp>
      <p:sp>
        <p:nvSpPr>
          <p:cNvPr id="7" name="Shape 5"/>
          <p:cNvSpPr/>
          <p:nvPr/>
        </p:nvSpPr>
        <p:spPr>
          <a:xfrm>
            <a:off x="4405809" y="2644577"/>
            <a:ext cx="3380383" cy="2251571"/>
          </a:xfrm>
          <a:prstGeom prst="roundRect">
            <a:avLst>
              <a:gd name="adj" fmla="val 4371"/>
            </a:avLst>
          </a:prstGeom>
          <a:solidFill>
            <a:srgbClr val="FCFBF8"/>
          </a:solidFill>
          <a:ln w="6350">
            <a:solidFill>
              <a:srgbClr val="DDD9CE"/>
            </a:solidFill>
            <a:prstDash val="solid"/>
          </a:ln>
        </p:spPr>
      </p:sp>
      <p:sp>
        <p:nvSpPr>
          <p:cNvPr id="8" name="Text 6"/>
          <p:cNvSpPr/>
          <p:nvPr/>
        </p:nvSpPr>
        <p:spPr>
          <a:xfrm>
            <a:off x="4662984" y="2901752"/>
            <a:ext cx="295201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2 · ADD WIDE</a:t>
            </a:r>
            <a:endParaRPr lang="en-US" sz="1200" dirty="0"/>
          </a:p>
        </p:txBody>
      </p:sp>
      <p:sp>
        <p:nvSpPr>
          <p:cNvPr id="9" name="Text 7"/>
          <p:cNvSpPr/>
          <p:nvPr/>
        </p:nvSpPr>
        <p:spPr>
          <a:xfrm>
            <a:off x="4662984" y="3216672"/>
            <a:ext cx="2952014"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Adding thousands of products in 8 bits would drown the answer in rounding error, so the running sum stays in 16 or 32 bits.</a:t>
            </a:r>
            <a:endParaRPr lang="en-US" sz="1600" dirty="0"/>
          </a:p>
        </p:txBody>
      </p:sp>
      <p:sp>
        <p:nvSpPr>
          <p:cNvPr id="10" name="Shape 8"/>
          <p:cNvSpPr/>
          <p:nvPr/>
        </p:nvSpPr>
        <p:spPr>
          <a:xfrm>
            <a:off x="7995741" y="2644577"/>
            <a:ext cx="3380284" cy="2251571"/>
          </a:xfrm>
          <a:prstGeom prst="roundRect">
            <a:avLst>
              <a:gd name="adj" fmla="val 4371"/>
            </a:avLst>
          </a:prstGeom>
          <a:solidFill>
            <a:srgbClr val="FCFBF8"/>
          </a:solidFill>
          <a:ln w="6350">
            <a:solidFill>
              <a:srgbClr val="DDD9CE"/>
            </a:solidFill>
            <a:prstDash val="solid"/>
          </a:ln>
        </p:spPr>
      </p:sp>
      <p:sp>
        <p:nvSpPr>
          <p:cNvPr id="11" name="Text 9"/>
          <p:cNvSpPr/>
          <p:nvPr/>
        </p:nvSpPr>
        <p:spPr>
          <a:xfrm>
            <a:off x="8252916" y="2901752"/>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3 · ROUND ONCE</a:t>
            </a:r>
            <a:endParaRPr lang="en-US" sz="1200" dirty="0"/>
          </a:p>
        </p:txBody>
      </p:sp>
      <p:sp>
        <p:nvSpPr>
          <p:cNvPr id="12" name="Text 10"/>
          <p:cNvSpPr/>
          <p:nvPr/>
        </p:nvSpPr>
        <p:spPr>
          <a:xfrm>
            <a:off x="8252916" y="3216672"/>
            <a:ext cx="2951912"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A fused multiply-add computes A + B × C exactly and rounds only at the end: more accurate and faster.</a:t>
            </a:r>
            <a:endParaRPr lang="en-US" sz="1600" dirty="0"/>
          </a:p>
        </p:txBody>
      </p:sp>
      <p:sp>
        <p:nvSpPr>
          <p:cNvPr id="13" name="Text 11"/>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28203"/>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1F5FBF"/>
                </a:solidFill>
                <a:latin typeface="IBM Plex Sans" pitchFamily="34" charset="0"/>
                <a:ea typeface="IBM Plex Sans" pitchFamily="34" charset="-122"/>
                <a:cs typeface="IBM Plex Sans" pitchFamily="34" charset="-120"/>
              </a:rPr>
              <a:t>WHAT “FUSED” BUYS</a:t>
            </a:r>
            <a:endParaRPr lang="en-US" sz="1159" dirty="0"/>
          </a:p>
        </p:txBody>
      </p:sp>
      <p:sp>
        <p:nvSpPr>
          <p:cNvPr id="3" name="Text 1"/>
          <p:cNvSpPr/>
          <p:nvPr/>
        </p:nvSpPr>
        <p:spPr>
          <a:xfrm>
            <a:off x="812800" y="1269603"/>
            <a:ext cx="10883392" cy="981472"/>
          </a:xfrm>
          <a:prstGeom prst="rect">
            <a:avLst/>
          </a:prstGeom>
          <a:noFill/>
          <a:ln/>
        </p:spPr>
        <p:txBody>
          <a:bodyPr wrap="square" lIns="0" tIns="0" rIns="0" bIns="0" rtlCol="0" anchor="t">
            <a:normAutofit/>
          </a:bodyPr>
          <a:lstStyle/>
          <a:p>
            <a:pPr algn="l" indent="0" marL="0">
              <a:lnSpc>
                <a:spcPts val="3787"/>
              </a:lnSpc>
              <a:buNone/>
            </a:pPr>
            <a:r>
              <a:rPr lang="en-US" sz="3442" b="1" dirty="0">
                <a:solidFill>
                  <a:srgbClr val="16202E"/>
                </a:solidFill>
                <a:latin typeface="IBM Plex Sans" pitchFamily="34" charset="0"/>
                <a:ea typeface="IBM Plex Sans" pitchFamily="34" charset="-122"/>
                <a:cs typeface="IBM Plex Sans" pitchFamily="34" charset="-120"/>
              </a:rPr>
              <a:t>One rounding keeps what two roundings throw away</a:t>
            </a:r>
            <a:endParaRPr lang="en-US" sz="3442" dirty="0"/>
          </a:p>
        </p:txBody>
      </p:sp>
      <p:sp>
        <p:nvSpPr>
          <p:cNvPr id="4" name="Shape 2"/>
          <p:cNvSpPr/>
          <p:nvPr/>
        </p:nvSpPr>
        <p:spPr>
          <a:xfrm>
            <a:off x="812800" y="2479675"/>
            <a:ext cx="10566400" cy="1314252"/>
          </a:xfrm>
          <a:prstGeom prst="roundRect">
            <a:avLst>
              <a:gd name="adj" fmla="val 7731"/>
            </a:avLst>
          </a:prstGeom>
          <a:solidFill>
            <a:srgbClr val="16202E"/>
          </a:solidFill>
          <a:ln/>
        </p:spPr>
      </p:sp>
      <p:sp>
        <p:nvSpPr>
          <p:cNvPr id="5" name="Text 3"/>
          <p:cNvSpPr/>
          <p:nvPr/>
        </p:nvSpPr>
        <p:spPr>
          <a:xfrm>
            <a:off x="1066800" y="2682875"/>
            <a:ext cx="10360152" cy="294184"/>
          </a:xfrm>
          <a:prstGeom prst="rect">
            <a:avLst/>
          </a:prstGeom>
          <a:noFill/>
          <a:ln/>
        </p:spPr>
        <p:txBody>
          <a:bodyPr wrap="square" lIns="0" tIns="0" rIns="0" bIns="0" rtlCol="0" anchor="t">
            <a:normAutofit/>
          </a:bodyPr>
          <a:lstStyle/>
          <a:p>
            <a:pPr algn="l" indent="0" marL="0">
              <a:lnSpc>
                <a:spcPts val="2121"/>
              </a:lnSpc>
              <a:buNone/>
            </a:pPr>
            <a:r>
              <a:rPr lang="en-US" sz="1515" dirty="0">
                <a:solidFill>
                  <a:srgbClr val="F6F5F1"/>
                </a:solidFill>
                <a:latin typeface="JetBrains Mono" pitchFamily="34" charset="0"/>
                <a:ea typeface="JetBrains Mono" pitchFamily="34" charset="-122"/>
                <a:cs typeface="JetBrains Mono" pitchFamily="34" charset="-120"/>
              </a:rPr>
              <a:t>B = C = 1 + 2^-23 (single precision)</a:t>
            </a:r>
            <a:endParaRPr lang="en-US" sz="1515" dirty="0"/>
          </a:p>
        </p:txBody>
      </p:sp>
      <p:sp>
        <p:nvSpPr>
          <p:cNvPr id="6" name="Text 4"/>
          <p:cNvSpPr/>
          <p:nvPr/>
        </p:nvSpPr>
        <p:spPr>
          <a:xfrm>
            <a:off x="1066800" y="3002459"/>
            <a:ext cx="10360152" cy="294084"/>
          </a:xfrm>
          <a:prstGeom prst="rect">
            <a:avLst/>
          </a:prstGeom>
          <a:noFill/>
          <a:ln/>
        </p:spPr>
        <p:txBody>
          <a:bodyPr wrap="square" lIns="0" tIns="0" rIns="0" bIns="0" rtlCol="0" anchor="t">
            <a:normAutofit/>
          </a:bodyPr>
          <a:lstStyle/>
          <a:p>
            <a:pPr algn="l" indent="0" marL="0">
              <a:lnSpc>
                <a:spcPts val="2121"/>
              </a:lnSpc>
              <a:buNone/>
            </a:pPr>
            <a:r>
              <a:rPr lang="en-US" sz="1515" dirty="0">
                <a:solidFill>
                  <a:srgbClr val="F6F5F1"/>
                </a:solidFill>
                <a:latin typeface="JetBrains Mono" pitchFamily="34" charset="0"/>
                <a:ea typeface="JetBrains Mono" pitchFamily="34" charset="-122"/>
                <a:cs typeface="JetBrains Mono" pitchFamily="34" charset="-120"/>
              </a:rPr>
              <a:t>B × C = 1 + 2^-22 + 2^-46 (exact)</a:t>
            </a:r>
            <a:endParaRPr lang="en-US" sz="1515" dirty="0"/>
          </a:p>
        </p:txBody>
      </p:sp>
      <p:sp>
        <p:nvSpPr>
          <p:cNvPr id="7" name="Text 5"/>
          <p:cNvSpPr/>
          <p:nvPr/>
        </p:nvSpPr>
        <p:spPr>
          <a:xfrm>
            <a:off x="1066800" y="3321943"/>
            <a:ext cx="10360152" cy="294184"/>
          </a:xfrm>
          <a:prstGeom prst="rect">
            <a:avLst/>
          </a:prstGeom>
          <a:noFill/>
          <a:ln/>
        </p:spPr>
        <p:txBody>
          <a:bodyPr wrap="square" lIns="0" tIns="0" rIns="0" bIns="0" rtlCol="0" anchor="t">
            <a:normAutofit/>
          </a:bodyPr>
          <a:lstStyle/>
          <a:p>
            <a:pPr algn="l" indent="0" marL="0">
              <a:lnSpc>
                <a:spcPts val="2121"/>
              </a:lnSpc>
              <a:buNone/>
            </a:pPr>
            <a:r>
              <a:rPr lang="en-US" sz="1515" dirty="0">
                <a:solidFill>
                  <a:srgbClr val="F6F5F1"/>
                </a:solidFill>
                <a:latin typeface="JetBrains Mono" pitchFamily="34" charset="0"/>
                <a:ea typeface="JetBrains Mono" pitchFamily="34" charset="-122"/>
                <a:cs typeface="JetBrains Mono" pitchFamily="34" charset="-120"/>
              </a:rPr>
              <a:t>A = −(1 + 2^-22) (= −B×C rounded)</a:t>
            </a:r>
            <a:endParaRPr lang="en-US" sz="1515" dirty="0"/>
          </a:p>
        </p:txBody>
      </p:sp>
      <p:sp>
        <p:nvSpPr>
          <p:cNvPr id="8" name="Shape 6"/>
          <p:cNvSpPr/>
          <p:nvPr/>
        </p:nvSpPr>
        <p:spPr>
          <a:xfrm>
            <a:off x="815975" y="4051102"/>
            <a:ext cx="5162550" cy="1787723"/>
          </a:xfrm>
          <a:prstGeom prst="roundRect">
            <a:avLst>
              <a:gd name="adj" fmla="val 5506"/>
            </a:avLst>
          </a:prstGeom>
          <a:solidFill>
            <a:srgbClr val="FCFBF8"/>
          </a:solidFill>
          <a:ln w="6350">
            <a:solidFill>
              <a:srgbClr val="DDD9CE"/>
            </a:solidFill>
            <a:prstDash val="solid"/>
          </a:ln>
        </p:spPr>
      </p:sp>
      <p:sp>
        <p:nvSpPr>
          <p:cNvPr id="9" name="Text 7"/>
          <p:cNvSpPr/>
          <p:nvPr/>
        </p:nvSpPr>
        <p:spPr>
          <a:xfrm>
            <a:off x="1073150" y="4308277"/>
            <a:ext cx="4787646" cy="226020"/>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6B7280"/>
                </a:solidFill>
                <a:latin typeface="IBM Plex Sans" pitchFamily="34" charset="0"/>
                <a:ea typeface="IBM Plex Sans" pitchFamily="34" charset="-122"/>
                <a:cs typeface="IBM Plex Sans" pitchFamily="34" charset="-120"/>
              </a:rPr>
              <a:t>MULTIPLY, ROUND, ADD, ROUND</a:t>
            </a:r>
            <a:endParaRPr lang="en-US" sz="1159" dirty="0"/>
          </a:p>
        </p:txBody>
      </p:sp>
      <p:sp>
        <p:nvSpPr>
          <p:cNvPr id="10" name="Text 8"/>
          <p:cNvSpPr/>
          <p:nvPr/>
        </p:nvSpPr>
        <p:spPr>
          <a:xfrm>
            <a:off x="1073150" y="4610497"/>
            <a:ext cx="4787646" cy="627459"/>
          </a:xfrm>
          <a:prstGeom prst="rect">
            <a:avLst/>
          </a:prstGeom>
          <a:noFill/>
          <a:ln/>
        </p:spPr>
        <p:txBody>
          <a:bodyPr wrap="square" lIns="0" tIns="0" rIns="0" bIns="0" rtlCol="0" anchor="t">
            <a:normAutofit/>
          </a:bodyPr>
          <a:lstStyle/>
          <a:p>
            <a:pPr algn="l" indent="0" marL="0">
              <a:lnSpc>
                <a:spcPts val="4772"/>
              </a:lnSpc>
              <a:buNone/>
            </a:pPr>
            <a:r>
              <a:rPr lang="en-US" sz="3409" dirty="0">
                <a:solidFill>
                  <a:srgbClr val="16202E"/>
                </a:solidFill>
                <a:latin typeface="JetBrains Mono" pitchFamily="34" charset="0"/>
                <a:ea typeface="JetBrains Mono" pitchFamily="34" charset="-122"/>
                <a:cs typeface="JetBrains Mono" pitchFamily="34" charset="-120"/>
              </a:rPr>
              <a:t>0</a:t>
            </a:r>
            <a:endParaRPr lang="en-US" sz="3409" dirty="0"/>
          </a:p>
        </p:txBody>
      </p:sp>
      <p:sp>
        <p:nvSpPr>
          <p:cNvPr id="11" name="Text 9"/>
          <p:cNvSpPr/>
          <p:nvPr/>
        </p:nvSpPr>
        <p:spPr>
          <a:xfrm>
            <a:off x="1073150" y="5314156"/>
            <a:ext cx="4787646" cy="292894"/>
          </a:xfrm>
          <a:prstGeom prst="rect">
            <a:avLst/>
          </a:prstGeom>
          <a:noFill/>
          <a:ln/>
        </p:spPr>
        <p:txBody>
          <a:bodyPr wrap="square" lIns="0" tIns="0" rIns="0" bIns="0" rtlCol="0" anchor="t">
            <a:normAutofit/>
          </a:bodyPr>
          <a:lstStyle/>
          <a:p>
            <a:pPr algn="l" indent="0" marL="0">
              <a:lnSpc>
                <a:spcPts val="2121"/>
              </a:lnSpc>
              <a:buNone/>
            </a:pPr>
            <a:r>
              <a:rPr lang="en-US" sz="1515" dirty="0">
                <a:solidFill>
                  <a:srgbClr val="4A5568"/>
                </a:solidFill>
                <a:latin typeface="IBM Plex Sans" pitchFamily="34" charset="0"/>
                <a:ea typeface="IBM Plex Sans" pitchFamily="34" charset="-122"/>
                <a:cs typeface="IBM Plex Sans" pitchFamily="34" charset="-120"/>
              </a:rPr>
              <a:t>the 2^-46 is rounded away</a:t>
            </a:r>
            <a:endParaRPr lang="en-US" sz="1515" dirty="0"/>
          </a:p>
        </p:txBody>
      </p:sp>
      <p:sp>
        <p:nvSpPr>
          <p:cNvPr id="12" name="Shape 10"/>
          <p:cNvSpPr/>
          <p:nvPr/>
        </p:nvSpPr>
        <p:spPr>
          <a:xfrm>
            <a:off x="6194425" y="4057452"/>
            <a:ext cx="5175250" cy="1775023"/>
          </a:xfrm>
          <a:prstGeom prst="roundRect">
            <a:avLst>
              <a:gd name="adj" fmla="val 5187"/>
            </a:avLst>
          </a:prstGeom>
          <a:solidFill>
            <a:srgbClr val="FCFBF8"/>
          </a:solidFill>
          <a:ln w="19050">
            <a:solidFill>
              <a:srgbClr val="1F5FBF"/>
            </a:solidFill>
            <a:prstDash val="solid"/>
          </a:ln>
        </p:spPr>
      </p:sp>
      <p:sp>
        <p:nvSpPr>
          <p:cNvPr id="13" name="Text 11"/>
          <p:cNvSpPr/>
          <p:nvPr/>
        </p:nvSpPr>
        <p:spPr>
          <a:xfrm>
            <a:off x="6457950" y="4320977"/>
            <a:ext cx="4787646" cy="221258"/>
          </a:xfrm>
          <a:prstGeom prst="rect">
            <a:avLst/>
          </a:prstGeom>
          <a:noFill/>
          <a:ln/>
        </p:spPr>
        <p:txBody>
          <a:bodyPr wrap="square" lIns="0" tIns="0" rIns="0" bIns="0" rtlCol="0" anchor="t">
            <a:normAutofit/>
          </a:bodyPr>
          <a:lstStyle/>
          <a:p>
            <a:pPr algn="l" indent="0" marL="0">
              <a:lnSpc>
                <a:spcPts val="1570"/>
              </a:lnSpc>
              <a:buNone/>
            </a:pPr>
            <a:r>
              <a:rPr lang="en-US" sz="1121" b="1" spc="100" kern="0" dirty="0">
                <a:solidFill>
                  <a:srgbClr val="1F5FBF"/>
                </a:solidFill>
                <a:latin typeface="IBM Plex Sans" pitchFamily="34" charset="0"/>
                <a:ea typeface="IBM Plex Sans" pitchFamily="34" charset="-122"/>
                <a:cs typeface="IBM Plex Sans" pitchFamily="34" charset="-120"/>
              </a:rPr>
              <a:t>U_FMA: A + B × C, ONE ROUNDING</a:t>
            </a:r>
            <a:endParaRPr lang="en-US" sz="1121" dirty="0"/>
          </a:p>
        </p:txBody>
      </p:sp>
      <p:sp>
        <p:nvSpPr>
          <p:cNvPr id="14" name="Text 12"/>
          <p:cNvSpPr/>
          <p:nvPr/>
        </p:nvSpPr>
        <p:spPr>
          <a:xfrm>
            <a:off x="6457950" y="4618434"/>
            <a:ext cx="4787646" cy="613172"/>
          </a:xfrm>
          <a:prstGeom prst="rect">
            <a:avLst/>
          </a:prstGeom>
          <a:noFill/>
          <a:ln/>
        </p:spPr>
        <p:txBody>
          <a:bodyPr wrap="square" lIns="0" tIns="0" rIns="0" bIns="0" rtlCol="0" anchor="t">
            <a:normAutofit/>
          </a:bodyPr>
          <a:lstStyle/>
          <a:p>
            <a:pPr algn="l" indent="0" marL="0">
              <a:lnSpc>
                <a:spcPts val="4662"/>
              </a:lnSpc>
              <a:buNone/>
            </a:pPr>
            <a:r>
              <a:rPr lang="en-US" sz="3330" dirty="0">
                <a:solidFill>
                  <a:srgbClr val="16202E"/>
                </a:solidFill>
                <a:latin typeface="JetBrains Mono" pitchFamily="34" charset="0"/>
                <a:ea typeface="JetBrains Mono" pitchFamily="34" charset="-122"/>
                <a:cs typeface="JetBrains Mono" pitchFamily="34" charset="-120"/>
              </a:rPr>
              <a:t>2^-46</a:t>
            </a:r>
            <a:endParaRPr lang="en-US" sz="3330" dirty="0"/>
          </a:p>
        </p:txBody>
      </p:sp>
      <p:sp>
        <p:nvSpPr>
          <p:cNvPr id="15" name="Text 13"/>
          <p:cNvSpPr/>
          <p:nvPr/>
        </p:nvSpPr>
        <p:spPr>
          <a:xfrm>
            <a:off x="6457950" y="5307806"/>
            <a:ext cx="4787646" cy="286544"/>
          </a:xfrm>
          <a:prstGeom prst="rect">
            <a:avLst/>
          </a:prstGeom>
          <a:noFill/>
          <a:ln/>
        </p:spPr>
        <p:txBody>
          <a:bodyPr wrap="square" lIns="0" tIns="0" rIns="0" bIns="0" rtlCol="0" anchor="t">
            <a:normAutofit/>
          </a:bodyPr>
          <a:lstStyle/>
          <a:p>
            <a:pPr algn="l" indent="0" marL="0">
              <a:lnSpc>
                <a:spcPts val="2072"/>
              </a:lnSpc>
              <a:buNone/>
            </a:pPr>
            <a:r>
              <a:rPr lang="en-US" sz="1480" dirty="0">
                <a:solidFill>
                  <a:srgbClr val="4A5568"/>
                </a:solidFill>
                <a:latin typeface="IBM Plex Sans" pitchFamily="34" charset="0"/>
                <a:ea typeface="IBM Plex Sans" pitchFamily="34" charset="-122"/>
                <a:cs typeface="IBM Plex Sans" pitchFamily="34" charset="-120"/>
              </a:rPr>
              <a:t>= 1.42 × 10^-14 exactly (0x28800000)</a:t>
            </a:r>
            <a:endParaRPr lang="en-US" sz="1480" dirty="0"/>
          </a:p>
        </p:txBody>
      </p:sp>
      <p:sp>
        <p:nvSpPr>
          <p:cNvPr id="16" name="Text 14"/>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NUMBER FORMATS</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Seven formats share one datapath</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51261"/>
          <a:ext cx="10553700" cy="3087688"/>
        </p:xfrm>
        <a:graphic>
          <a:graphicData uri="http://schemas.openxmlformats.org/drawingml/2006/table">
            <a:tbl>
              <a:tblPr/>
              <a:tblGrid>
                <a:gridCol w="1688592"/>
                <a:gridCol w="949833"/>
                <a:gridCol w="2321814"/>
                <a:gridCol w="1794129"/>
                <a:gridCol w="1688592"/>
                <a:gridCol w="2110740"/>
              </a:tblGrid>
              <a:tr h="385961">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Format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Bits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Sign · exp · mantissa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1.0 is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Largest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Used 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8596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E4M3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 · 4 · 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0x38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240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AI inference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E5M2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 · 5 ·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0x3C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57,344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AI gradients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HP (half)</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 · 5 · 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0x3C00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65,504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graphics, AI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DLFloat16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 · 6 · 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0x3E00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4.3 × 10^9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IBM AI chips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BFloat16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 · 8 · 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0x3F80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3.4 × 10^38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AI training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TF32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 · 8 · 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0x1FC00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3.4 × 10^38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tensor cores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8596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SP (single)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 · 8 · 23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0x3F800000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3.4 × 10^38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general purpose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554374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Inside the unit every format becomes sign · signed exponent · 24-bit significand, so one 24 × 24 multiplier serves all seven.</a:t>
            </a:r>
            <a:endParaRPr lang="en-US" sz="1200" dirty="0"/>
          </a:p>
        </p:txBody>
      </p:sp>
      <p:sp>
        <p:nvSpPr>
          <p:cNvPr id="6" name="Text 3"/>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OPERATING MODES</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Two modes, chosen every clock cycle</a:t>
            </a:r>
            <a:endParaRPr lang="en-US" sz="3600" dirty="0"/>
          </a:p>
        </p:txBody>
      </p:sp>
      <p:sp>
        <p:nvSpPr>
          <p:cNvPr id="4" name="Shape 2"/>
          <p:cNvSpPr/>
          <p:nvPr/>
        </p:nvSpPr>
        <p:spPr>
          <a:xfrm>
            <a:off x="815975" y="2141736"/>
            <a:ext cx="5175250" cy="2505571"/>
          </a:xfrm>
          <a:prstGeom prst="roundRect">
            <a:avLst>
              <a:gd name="adj" fmla="val 3928"/>
            </a:avLst>
          </a:prstGeom>
          <a:solidFill>
            <a:srgbClr val="FCFBF8"/>
          </a:solidFill>
          <a:ln w="6350">
            <a:solidFill>
              <a:srgbClr val="DDD9CE"/>
            </a:solidFill>
            <a:prstDash val="solid"/>
          </a:ln>
        </p:spPr>
      </p:sp>
      <p:sp>
        <p:nvSpPr>
          <p:cNvPr id="5" name="Text 3"/>
          <p:cNvSpPr/>
          <p:nvPr/>
        </p:nvSpPr>
        <p:spPr>
          <a:xfrm>
            <a:off x="1073150" y="239891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5FBF"/>
                </a:solidFill>
                <a:latin typeface="JetBrains Mono" pitchFamily="34" charset="0"/>
                <a:ea typeface="JetBrains Mono" pitchFamily="34" charset="-122"/>
                <a:cs typeface="JetBrains Mono" pitchFamily="34" charset="-120"/>
              </a:rPr>
              <a:t>mixmode_i = 0</a:t>
            </a:r>
            <a:endParaRPr lang="en-US" sz="1200" dirty="0"/>
          </a:p>
        </p:txBody>
      </p:sp>
      <p:sp>
        <p:nvSpPr>
          <p:cNvPr id="6" name="Text 4"/>
          <p:cNvSpPr/>
          <p:nvPr/>
        </p:nvSpPr>
        <p:spPr>
          <a:xfrm>
            <a:off x="1073150" y="276463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Multiple-precision</a:t>
            </a:r>
            <a:endParaRPr lang="en-US" sz="2200" dirty="0"/>
          </a:p>
        </p:txBody>
      </p:sp>
      <p:sp>
        <p:nvSpPr>
          <p:cNvPr id="7" name="Text 5"/>
          <p:cNvSpPr/>
          <p:nvPr/>
        </p:nvSpPr>
        <p:spPr>
          <a:xfrm>
            <a:off x="1073150" y="3252291"/>
            <a:ext cx="1108075" cy="416520"/>
          </a:xfrm>
          <a:prstGeom prst="roundRect">
            <a:avLst>
              <a:gd name="adj" fmla="val 12196"/>
            </a:avLst>
          </a:prstGeom>
          <a:solidFill>
            <a:srgbClr val="16202E"/>
          </a:solidFill>
          <a:ln/>
        </p:spPr>
        <p:txBody>
          <a:bodyPr wrap="square" lIns="61321" tIns="86721" rIns="61321" bIns="61321" rtlCol="0" anchor="t">
            <a:normAutofit/>
          </a:bodyPr>
          <a:lstStyle/>
          <a:p>
            <a:pPr algn="ctr" indent="0" marL="0">
              <a:lnSpc>
                <a:spcPts val="1680"/>
              </a:lnSpc>
              <a:buNone/>
            </a:pPr>
            <a:r>
              <a:rPr lang="en-US" sz="1200" dirty="0">
                <a:solidFill>
                  <a:srgbClr val="F6F5F1"/>
                </a:solidFill>
                <a:latin typeface="JetBrains Mono" pitchFamily="34" charset="0"/>
                <a:ea typeface="JetBrains Mono" pitchFamily="34" charset="-122"/>
                <a:cs typeface="JetBrains Mono" pitchFamily="34" charset="-120"/>
              </a:rPr>
              <a:t>A3+B3·C3</a:t>
            </a:r>
            <a:endParaRPr lang="en-US" sz="1200" dirty="0"/>
          </a:p>
        </p:txBody>
      </p:sp>
      <p:sp>
        <p:nvSpPr>
          <p:cNvPr id="8" name="Text 6"/>
          <p:cNvSpPr/>
          <p:nvPr/>
        </p:nvSpPr>
        <p:spPr>
          <a:xfrm>
            <a:off x="2257425" y="3252291"/>
            <a:ext cx="1108075" cy="416520"/>
          </a:xfrm>
          <a:prstGeom prst="roundRect">
            <a:avLst>
              <a:gd name="adj" fmla="val 12196"/>
            </a:avLst>
          </a:prstGeom>
          <a:solidFill>
            <a:srgbClr val="16202E"/>
          </a:solidFill>
          <a:ln/>
        </p:spPr>
        <p:txBody>
          <a:bodyPr wrap="square" lIns="61321" tIns="86721" rIns="61321" bIns="61321" rtlCol="0" anchor="t">
            <a:normAutofit/>
          </a:bodyPr>
          <a:lstStyle/>
          <a:p>
            <a:pPr algn="ctr" indent="0" marL="0">
              <a:lnSpc>
                <a:spcPts val="1680"/>
              </a:lnSpc>
              <a:buNone/>
            </a:pPr>
            <a:r>
              <a:rPr lang="en-US" sz="1200" dirty="0">
                <a:solidFill>
                  <a:srgbClr val="F6F5F1"/>
                </a:solidFill>
                <a:latin typeface="JetBrains Mono" pitchFamily="34" charset="0"/>
                <a:ea typeface="JetBrains Mono" pitchFamily="34" charset="-122"/>
                <a:cs typeface="JetBrains Mono" pitchFamily="34" charset="-120"/>
              </a:rPr>
              <a:t>A2+B2·C2</a:t>
            </a:r>
            <a:endParaRPr lang="en-US" sz="1200" dirty="0"/>
          </a:p>
        </p:txBody>
      </p:sp>
      <p:sp>
        <p:nvSpPr>
          <p:cNvPr id="9" name="Text 7"/>
          <p:cNvSpPr/>
          <p:nvPr/>
        </p:nvSpPr>
        <p:spPr>
          <a:xfrm>
            <a:off x="3441700" y="3252291"/>
            <a:ext cx="1108075" cy="416520"/>
          </a:xfrm>
          <a:prstGeom prst="roundRect">
            <a:avLst>
              <a:gd name="adj" fmla="val 12196"/>
            </a:avLst>
          </a:prstGeom>
          <a:solidFill>
            <a:srgbClr val="16202E"/>
          </a:solidFill>
          <a:ln/>
        </p:spPr>
        <p:txBody>
          <a:bodyPr wrap="square" lIns="61321" tIns="86721" rIns="61321" bIns="61321" rtlCol="0" anchor="t">
            <a:normAutofit/>
          </a:bodyPr>
          <a:lstStyle/>
          <a:p>
            <a:pPr algn="ctr" indent="0" marL="0">
              <a:lnSpc>
                <a:spcPts val="1680"/>
              </a:lnSpc>
              <a:buNone/>
            </a:pPr>
            <a:r>
              <a:rPr lang="en-US" sz="1200" dirty="0">
                <a:solidFill>
                  <a:srgbClr val="F6F5F1"/>
                </a:solidFill>
                <a:latin typeface="JetBrains Mono" pitchFamily="34" charset="0"/>
                <a:ea typeface="JetBrains Mono" pitchFamily="34" charset="-122"/>
                <a:cs typeface="JetBrains Mono" pitchFamily="34" charset="-120"/>
              </a:rPr>
              <a:t>A1+B1·C1</a:t>
            </a:r>
            <a:endParaRPr lang="en-US" sz="1200" dirty="0"/>
          </a:p>
        </p:txBody>
      </p:sp>
      <p:sp>
        <p:nvSpPr>
          <p:cNvPr id="10" name="Text 8"/>
          <p:cNvSpPr/>
          <p:nvPr/>
        </p:nvSpPr>
        <p:spPr>
          <a:xfrm>
            <a:off x="4625975" y="3252291"/>
            <a:ext cx="1108075" cy="416520"/>
          </a:xfrm>
          <a:prstGeom prst="roundRect">
            <a:avLst>
              <a:gd name="adj" fmla="val 12196"/>
            </a:avLst>
          </a:prstGeom>
          <a:solidFill>
            <a:srgbClr val="16202E"/>
          </a:solidFill>
          <a:ln/>
        </p:spPr>
        <p:txBody>
          <a:bodyPr wrap="square" lIns="61321" tIns="86721" rIns="61321" bIns="61321" rtlCol="0" anchor="t">
            <a:normAutofit/>
          </a:bodyPr>
          <a:lstStyle/>
          <a:p>
            <a:pPr algn="ctr" indent="0" marL="0">
              <a:lnSpc>
                <a:spcPts val="1680"/>
              </a:lnSpc>
              <a:buNone/>
            </a:pPr>
            <a:r>
              <a:rPr lang="en-US" sz="1200" dirty="0">
                <a:solidFill>
                  <a:srgbClr val="F6F5F1"/>
                </a:solidFill>
                <a:latin typeface="JetBrains Mono" pitchFamily="34" charset="0"/>
                <a:ea typeface="JetBrains Mono" pitchFamily="34" charset="-122"/>
                <a:cs typeface="JetBrains Mono" pitchFamily="34" charset="-120"/>
              </a:rPr>
              <a:t>A0+B0·C0</a:t>
            </a:r>
            <a:endParaRPr lang="en-US" sz="1200" dirty="0"/>
          </a:p>
        </p:txBody>
      </p:sp>
      <p:sp>
        <p:nvSpPr>
          <p:cNvPr id="11" name="Text 9"/>
          <p:cNvSpPr/>
          <p:nvPr/>
        </p:nvSpPr>
        <p:spPr>
          <a:xfrm>
            <a:off x="1073150" y="3821212"/>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4 × 8-bit, 2 × 16-bit or 1 × 32/19-bit independent results every clock.</a:t>
            </a:r>
            <a:endParaRPr lang="en-US" sz="1600" dirty="0"/>
          </a:p>
        </p:txBody>
      </p:sp>
      <p:sp>
        <p:nvSpPr>
          <p:cNvPr id="12" name="Shape 10"/>
          <p:cNvSpPr/>
          <p:nvPr/>
        </p:nvSpPr>
        <p:spPr>
          <a:xfrm>
            <a:off x="6200775" y="2141736"/>
            <a:ext cx="5175250" cy="2505571"/>
          </a:xfrm>
          <a:prstGeom prst="roundRect">
            <a:avLst>
              <a:gd name="adj" fmla="val 3928"/>
            </a:avLst>
          </a:prstGeom>
          <a:solidFill>
            <a:srgbClr val="FCFBF8"/>
          </a:solidFill>
          <a:ln w="6350">
            <a:solidFill>
              <a:srgbClr val="DDD9CE"/>
            </a:solidFill>
            <a:prstDash val="solid"/>
          </a:ln>
        </p:spPr>
      </p:sp>
      <p:sp>
        <p:nvSpPr>
          <p:cNvPr id="13" name="Text 11"/>
          <p:cNvSpPr/>
          <p:nvPr/>
        </p:nvSpPr>
        <p:spPr>
          <a:xfrm>
            <a:off x="6457950" y="2398911"/>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5FBF"/>
                </a:solidFill>
                <a:latin typeface="JetBrains Mono" pitchFamily="34" charset="0"/>
                <a:ea typeface="JetBrains Mono" pitchFamily="34" charset="-122"/>
                <a:cs typeface="JetBrains Mono" pitchFamily="34" charset="-120"/>
              </a:rPr>
              <a:t>mixmode_i = 1</a:t>
            </a:r>
            <a:endParaRPr lang="en-US" sz="1200" dirty="0"/>
          </a:p>
        </p:txBody>
      </p:sp>
      <p:sp>
        <p:nvSpPr>
          <p:cNvPr id="14" name="Text 12"/>
          <p:cNvSpPr/>
          <p:nvPr/>
        </p:nvSpPr>
        <p:spPr>
          <a:xfrm>
            <a:off x="6457950" y="276463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Mixed-precision</a:t>
            </a:r>
            <a:endParaRPr lang="en-US" sz="2200" dirty="0"/>
          </a:p>
        </p:txBody>
      </p:sp>
      <p:sp>
        <p:nvSpPr>
          <p:cNvPr id="15" name="Text 13"/>
          <p:cNvSpPr/>
          <p:nvPr/>
        </p:nvSpPr>
        <p:spPr>
          <a:xfrm>
            <a:off x="6457950" y="3252291"/>
            <a:ext cx="4660900" cy="416520"/>
          </a:xfrm>
          <a:prstGeom prst="roundRect">
            <a:avLst>
              <a:gd name="adj" fmla="val 12196"/>
            </a:avLst>
          </a:prstGeom>
          <a:solidFill>
            <a:srgbClr val="1F5FBF"/>
          </a:solidFill>
          <a:ln/>
        </p:spPr>
        <p:txBody>
          <a:bodyPr wrap="square" lIns="19856" tIns="86721" rIns="19856" bIns="61321" rtlCol="0" anchor="t">
            <a:normAutofit/>
          </a:bodyPr>
          <a:lstStyle/>
          <a:p>
            <a:pPr algn="ctr" indent="0" marL="0">
              <a:lnSpc>
                <a:spcPts val="1680"/>
              </a:lnSpc>
              <a:buNone/>
            </a:pPr>
            <a:r>
              <a:rPr lang="en-US" sz="1200" dirty="0">
                <a:solidFill>
                  <a:srgbClr val="F6F5F1"/>
                </a:solidFill>
                <a:latin typeface="JetBrains Mono" pitchFamily="34" charset="0"/>
                <a:ea typeface="JetBrains Mono" pitchFamily="34" charset="-122"/>
                <a:cs typeface="JetBrains Mono" pitchFamily="34" charset="-120"/>
              </a:rPr>
              <a:t>A + B0·C0 + B1·C1 + B2·C2 + B3·C3</a:t>
            </a:r>
            <a:endParaRPr lang="en-US" sz="1200" dirty="0"/>
          </a:p>
        </p:txBody>
      </p:sp>
      <p:sp>
        <p:nvSpPr>
          <p:cNvPr id="16" name="Text 14"/>
          <p:cNvSpPr/>
          <p:nvPr/>
        </p:nvSpPr>
        <p:spPr>
          <a:xfrm>
            <a:off x="6457950" y="3821212"/>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One wide addend plus 4 × 8-bit or 2 × 16-bit products, rounded once. 16 format combinations.</a:t>
            </a:r>
            <a:endParaRPr lang="en-US" sz="1600" dirty="0"/>
          </a:p>
        </p:txBody>
      </p:sp>
      <p:sp>
        <p:nvSpPr>
          <p:cNvPr id="17" name="Text 15"/>
          <p:cNvSpPr/>
          <p:nvPr/>
        </p:nvSpPr>
        <p:spPr>
          <a:xfrm>
            <a:off x="812800" y="495528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pra_i / prm_i pick the size class and ewa_i / ewm_i the exponent width: 8-bit + 4 = E4M3, 16-bit + 8 = BFloat16, and so on.</a:t>
            </a:r>
            <a:endParaRPr lang="en-US" sz="1200" dirty="0"/>
          </a:p>
        </p:txBody>
      </p:sp>
      <p:sp>
        <p:nvSpPr>
          <p:cNvPr id="18" name="Text 16"/>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MICROARCHITECTURE</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Four pipeline stages, three registers</a:t>
            </a:r>
            <a:endParaRPr lang="en-US" sz="3600" dirty="0"/>
          </a:p>
        </p:txBody>
      </p:sp>
      <p:sp>
        <p:nvSpPr>
          <p:cNvPr id="4" name="Shape 2"/>
          <p:cNvSpPr/>
          <p:nvPr/>
        </p:nvSpPr>
        <p:spPr>
          <a:xfrm>
            <a:off x="815975" y="2141736"/>
            <a:ext cx="2520950" cy="2088852"/>
          </a:xfrm>
          <a:prstGeom prst="roundRect">
            <a:avLst>
              <a:gd name="adj" fmla="val 4712"/>
            </a:avLst>
          </a:prstGeom>
          <a:solidFill>
            <a:srgbClr val="FCFBF8"/>
          </a:solidFill>
          <a:ln w="6350">
            <a:solidFill>
              <a:srgbClr val="DDD9CE"/>
            </a:solidFill>
            <a:prstDash val="solid"/>
          </a:ln>
        </p:spPr>
      </p:sp>
      <p:sp>
        <p:nvSpPr>
          <p:cNvPr id="5" name="Text 3"/>
          <p:cNvSpPr/>
          <p:nvPr/>
        </p:nvSpPr>
        <p:spPr>
          <a:xfrm>
            <a:off x="1022350" y="234811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STAGE 1</a:t>
            </a:r>
            <a:endParaRPr lang="en-US" sz="1200" dirty="0"/>
          </a:p>
        </p:txBody>
      </p:sp>
      <p:sp>
        <p:nvSpPr>
          <p:cNvPr id="6" name="Text 4"/>
          <p:cNvSpPr/>
          <p:nvPr/>
        </p:nvSpPr>
        <p:spPr>
          <a:xfrm>
            <a:off x="1022350" y="26376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Unpack, multiply</a:t>
            </a:r>
            <a:endParaRPr lang="en-US" sz="1600" dirty="0"/>
          </a:p>
        </p:txBody>
      </p:sp>
      <p:sp>
        <p:nvSpPr>
          <p:cNvPr id="7" name="Text 5"/>
          <p:cNvSpPr/>
          <p:nvPr/>
        </p:nvSpPr>
        <p:spPr>
          <a:xfrm>
            <a:off x="1121156" y="2957612"/>
            <a:ext cx="2065020"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Unified extractor</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Bias generator</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Leading-zero counter</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Booth multiplier</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Exponent control</a:t>
            </a:r>
            <a:endParaRPr lang="en-US" sz="1200" dirty="0"/>
          </a:p>
        </p:txBody>
      </p:sp>
      <p:sp>
        <p:nvSpPr>
          <p:cNvPr id="8" name="Shape 6"/>
          <p:cNvSpPr/>
          <p:nvPr/>
        </p:nvSpPr>
        <p:spPr>
          <a:xfrm>
            <a:off x="3495675" y="2141736"/>
            <a:ext cx="2520950" cy="2088852"/>
          </a:xfrm>
          <a:prstGeom prst="roundRect">
            <a:avLst>
              <a:gd name="adj" fmla="val 4712"/>
            </a:avLst>
          </a:prstGeom>
          <a:solidFill>
            <a:srgbClr val="FCFBF8"/>
          </a:solidFill>
          <a:ln w="6350">
            <a:solidFill>
              <a:srgbClr val="DDD9CE"/>
            </a:solidFill>
            <a:prstDash val="solid"/>
          </a:ln>
        </p:spPr>
      </p:sp>
      <p:sp>
        <p:nvSpPr>
          <p:cNvPr id="9" name="Text 7"/>
          <p:cNvSpPr/>
          <p:nvPr/>
        </p:nvSpPr>
        <p:spPr>
          <a:xfrm>
            <a:off x="3702050" y="234811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STAGE 2</a:t>
            </a:r>
            <a:endParaRPr lang="en-US" sz="1200" dirty="0"/>
          </a:p>
        </p:txBody>
      </p:sp>
      <p:sp>
        <p:nvSpPr>
          <p:cNvPr id="10" name="Text 8"/>
          <p:cNvSpPr/>
          <p:nvPr/>
        </p:nvSpPr>
        <p:spPr>
          <a:xfrm>
            <a:off x="3702050" y="26376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Align to anchor</a:t>
            </a:r>
            <a:endParaRPr lang="en-US" sz="1600" dirty="0"/>
          </a:p>
        </p:txBody>
      </p:sp>
      <p:sp>
        <p:nvSpPr>
          <p:cNvPr id="11" name="Text 9"/>
          <p:cNvSpPr/>
          <p:nvPr/>
        </p:nvSpPr>
        <p:spPr>
          <a:xfrm>
            <a:off x="3800856" y="2957612"/>
            <a:ext cx="2065020"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Comparator (anchor)</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Addend alignment</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Product alignment</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Invert / swap</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CSA 4:2</a:t>
            </a:r>
            <a:endParaRPr lang="en-US" sz="1200" dirty="0"/>
          </a:p>
        </p:txBody>
      </p:sp>
      <p:sp>
        <p:nvSpPr>
          <p:cNvPr id="12" name="Shape 10"/>
          <p:cNvSpPr/>
          <p:nvPr/>
        </p:nvSpPr>
        <p:spPr>
          <a:xfrm>
            <a:off x="6175375" y="2141736"/>
            <a:ext cx="2520950" cy="2088852"/>
          </a:xfrm>
          <a:prstGeom prst="roundRect">
            <a:avLst>
              <a:gd name="adj" fmla="val 4712"/>
            </a:avLst>
          </a:prstGeom>
          <a:solidFill>
            <a:srgbClr val="FCFBF8"/>
          </a:solidFill>
          <a:ln w="6350">
            <a:solidFill>
              <a:srgbClr val="DDD9CE"/>
            </a:solidFill>
            <a:prstDash val="solid"/>
          </a:ln>
        </p:spPr>
      </p:sp>
      <p:sp>
        <p:nvSpPr>
          <p:cNvPr id="13" name="Text 11"/>
          <p:cNvSpPr/>
          <p:nvPr/>
        </p:nvSpPr>
        <p:spPr>
          <a:xfrm>
            <a:off x="6381750" y="234811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STAGE 3</a:t>
            </a:r>
            <a:endParaRPr lang="en-US" sz="1200" dirty="0"/>
          </a:p>
        </p:txBody>
      </p:sp>
      <p:sp>
        <p:nvSpPr>
          <p:cNvPr id="14" name="Text 12"/>
          <p:cNvSpPr/>
          <p:nvPr/>
        </p:nvSpPr>
        <p:spPr>
          <a:xfrm>
            <a:off x="6381750" y="26376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Add, make positive</a:t>
            </a:r>
            <a:endParaRPr lang="en-US" sz="1600" dirty="0"/>
          </a:p>
        </p:txBody>
      </p:sp>
      <p:sp>
        <p:nvSpPr>
          <p:cNvPr id="15" name="Text 13"/>
          <p:cNvSpPr/>
          <p:nvPr/>
        </p:nvSpPr>
        <p:spPr>
          <a:xfrm>
            <a:off x="6480556" y="2957612"/>
            <a:ext cx="2065020"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CSA 3:2</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Sticky logic</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Carry-select adder</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Complement (~x+1)</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Leading-one finder</a:t>
            </a:r>
            <a:endParaRPr lang="en-US" sz="1200" dirty="0"/>
          </a:p>
        </p:txBody>
      </p:sp>
      <p:sp>
        <p:nvSpPr>
          <p:cNvPr id="16" name="Shape 14"/>
          <p:cNvSpPr/>
          <p:nvPr/>
        </p:nvSpPr>
        <p:spPr>
          <a:xfrm>
            <a:off x="8855075" y="2141736"/>
            <a:ext cx="2520950" cy="2088852"/>
          </a:xfrm>
          <a:prstGeom prst="roundRect">
            <a:avLst>
              <a:gd name="adj" fmla="val 4712"/>
            </a:avLst>
          </a:prstGeom>
          <a:solidFill>
            <a:srgbClr val="FCFBF8"/>
          </a:solidFill>
          <a:ln w="6350">
            <a:solidFill>
              <a:srgbClr val="DDD9CE"/>
            </a:solidFill>
            <a:prstDash val="solid"/>
          </a:ln>
        </p:spPr>
      </p:sp>
      <p:sp>
        <p:nvSpPr>
          <p:cNvPr id="17" name="Text 15"/>
          <p:cNvSpPr/>
          <p:nvPr/>
        </p:nvSpPr>
        <p:spPr>
          <a:xfrm>
            <a:off x="9061450" y="2348111"/>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STAGE 4</a:t>
            </a:r>
            <a:endParaRPr lang="en-US" sz="1200" dirty="0"/>
          </a:p>
        </p:txBody>
      </p:sp>
      <p:sp>
        <p:nvSpPr>
          <p:cNvPr id="18" name="Text 16"/>
          <p:cNvSpPr/>
          <p:nvPr/>
        </p:nvSpPr>
        <p:spPr>
          <a:xfrm>
            <a:off x="9061450" y="2637631"/>
            <a:ext cx="217144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Normalize, round</a:t>
            </a:r>
            <a:endParaRPr lang="en-US" sz="1600" dirty="0"/>
          </a:p>
        </p:txBody>
      </p:sp>
      <p:sp>
        <p:nvSpPr>
          <p:cNvPr id="19" name="Text 17"/>
          <p:cNvSpPr/>
          <p:nvPr/>
        </p:nvSpPr>
        <p:spPr>
          <a:xfrm>
            <a:off x="9160256" y="2957612"/>
            <a:ext cx="2065020" cy="1092002"/>
          </a:xfrm>
          <a:prstGeom prst="rect">
            <a:avLst/>
          </a:prstGeom>
          <a:noFill/>
          <a:ln/>
        </p:spPr>
        <p:txBody>
          <a:bodyPr wrap="square" lIns="0" tIns="0" rIns="0" bIns="0" rtlCol="0" anchor="t">
            <a:normAutofit/>
          </a:bodyPr>
          <a:lstStyle/>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Normalization</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Rounding (RNE)</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Exponent adjuster</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Sign detection</a:t>
            </a:r>
            <a:endParaRPr lang="en-US" sz="1200" dirty="0"/>
          </a:p>
          <a:p>
            <a:pPr algn="l" marL="155194"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Output finalizing</a:t>
            </a:r>
            <a:endParaRPr lang="en-US" sz="1200" dirty="0"/>
          </a:p>
        </p:txBody>
      </p:sp>
      <p:sp>
        <p:nvSpPr>
          <p:cNvPr id="20" name="Text 18"/>
          <p:cNvSpPr/>
          <p:nvPr/>
        </p:nvSpPr>
        <p:spPr>
          <a:xfrm>
            <a:off x="812800" y="453856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 register after stages 1, 2 and 3: a new operation every clock, its result 3 clock edges later. The stage 2–3 accumulator is 76 bits:</a:t>
            </a:r>
            <a:endParaRPr lang="en-US" sz="1200" dirty="0"/>
          </a:p>
        </p:txBody>
      </p:sp>
      <p:sp>
        <p:nvSpPr>
          <p:cNvPr id="21" name="Text 19"/>
          <p:cNvSpPr/>
          <p:nvPr/>
        </p:nvSpPr>
        <p:spPr>
          <a:xfrm>
            <a:off x="812800" y="4853484"/>
            <a:ext cx="952500" cy="429220"/>
          </a:xfrm>
          <a:prstGeom prst="rect">
            <a:avLst/>
          </a:prstGeom>
          <a:solidFill>
            <a:srgbClr val="16202E"/>
          </a:solidFill>
          <a:ln/>
        </p:spPr>
        <p:txBody>
          <a:bodyPr wrap="square" lIns="76200" tIns="101600" rIns="76200" bIns="76200"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sign</a:t>
            </a:r>
            <a:endParaRPr lang="en-US" sz="1200" dirty="0"/>
          </a:p>
        </p:txBody>
      </p:sp>
      <p:sp>
        <p:nvSpPr>
          <p:cNvPr id="22" name="Text 20"/>
          <p:cNvSpPr/>
          <p:nvPr/>
        </p:nvSpPr>
        <p:spPr>
          <a:xfrm>
            <a:off x="1765300" y="4853484"/>
            <a:ext cx="1460500" cy="429220"/>
          </a:xfrm>
          <a:prstGeom prst="rect">
            <a:avLst/>
          </a:prstGeom>
          <a:solidFill>
            <a:srgbClr val="1F5FBF"/>
          </a:solidFill>
          <a:ln/>
        </p:spPr>
        <p:txBody>
          <a:bodyPr wrap="square" lIns="76200" tIns="101600" rIns="76200" bIns="76200"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3 headroom</a:t>
            </a:r>
            <a:endParaRPr lang="en-US" sz="1200" dirty="0"/>
          </a:p>
        </p:txBody>
      </p:sp>
      <p:sp>
        <p:nvSpPr>
          <p:cNvPr id="23" name="Text 21"/>
          <p:cNvSpPr/>
          <p:nvPr/>
        </p:nvSpPr>
        <p:spPr>
          <a:xfrm>
            <a:off x="3228975" y="4856659"/>
            <a:ext cx="5734050" cy="422870"/>
          </a:xfrm>
          <a:prstGeom prst="rect">
            <a:avLst/>
          </a:prstGeom>
          <a:solidFill>
            <a:srgbClr val="FCFBF8"/>
          </a:solidFill>
          <a:ln w="6350">
            <a:solidFill>
              <a:srgbClr val="DDD9CE"/>
            </a:solidFill>
            <a:prstDash val="solid"/>
          </a:ln>
        </p:spPr>
        <p:txBody>
          <a:bodyPr wrap="square" lIns="21908" tIns="104775" rIns="21908" bIns="79375" rtlCol="0" anchor="t">
            <a:normAutofit/>
          </a:bodyPr>
          <a:lstStyle/>
          <a:p>
            <a:pPr algn="ct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exact 48-bit product (hidden bit at bit 71)</a:t>
            </a:r>
            <a:endParaRPr lang="en-US" sz="1200" dirty="0"/>
          </a:p>
        </p:txBody>
      </p:sp>
      <p:sp>
        <p:nvSpPr>
          <p:cNvPr id="24" name="Text 22"/>
          <p:cNvSpPr/>
          <p:nvPr/>
        </p:nvSpPr>
        <p:spPr>
          <a:xfrm>
            <a:off x="8966200" y="4853484"/>
            <a:ext cx="1651000" cy="429220"/>
          </a:xfrm>
          <a:prstGeom prst="rect">
            <a:avLst/>
          </a:prstGeom>
          <a:solidFill>
            <a:srgbClr val="DDD9CE"/>
          </a:solidFill>
          <a:ln/>
        </p:spPr>
        <p:txBody>
          <a:bodyPr wrap="square" lIns="76200" tIns="101600" rIns="76200" bIns="76200" rtlCol="0" anchor="t">
            <a:normAutofit/>
          </a:bodyPr>
          <a:lstStyle/>
          <a:p>
            <a:pPr algn="ct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guard bits</a:t>
            </a:r>
            <a:endParaRPr lang="en-US" sz="1200" dirty="0"/>
          </a:p>
        </p:txBody>
      </p:sp>
      <p:sp>
        <p:nvSpPr>
          <p:cNvPr id="25" name="Text 23"/>
          <p:cNvSpPr/>
          <p:nvPr/>
        </p:nvSpPr>
        <p:spPr>
          <a:xfrm>
            <a:off x="10617200" y="4853484"/>
            <a:ext cx="762000" cy="429220"/>
          </a:xfrm>
          <a:prstGeom prst="rect">
            <a:avLst/>
          </a:prstGeom>
          <a:solidFill>
            <a:srgbClr val="E07A45"/>
          </a:solidFill>
          <a:ln/>
        </p:spPr>
        <p:txBody>
          <a:bodyPr wrap="square" lIns="76200" tIns="101600" rIns="76200" bIns="76200" rtlCol="0" anchor="t">
            <a:normAutofit/>
          </a:bodyPr>
          <a:lstStyle/>
          <a:p>
            <a:pPr algn="ct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jam</a:t>
            </a:r>
            <a:endParaRPr lang="en-US" sz="1200" dirty="0"/>
          </a:p>
        </p:txBody>
      </p:sp>
      <p:sp>
        <p:nvSpPr>
          <p:cNvPr id="26" name="Text 24"/>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ONE OPERATION, TRACED IN SIMULATION</a:t>
            </a:r>
            <a:endParaRPr lang="en-US" sz="1200" dirty="0"/>
          </a:p>
        </p:txBody>
      </p:sp>
      <p:sp>
        <p:nvSpPr>
          <p:cNvPr id="3" name="Text 1"/>
          <p:cNvSpPr/>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1 + 6 − 0.5 + 1.5 + 0.25 = 8.25</a:t>
            </a:r>
            <a:endParaRPr lang="en-US" sz="3600" dirty="0"/>
          </a:p>
        </p:txBody>
      </p:sp>
      <p:sp>
        <p:nvSpPr>
          <p:cNvPr id="4" name="Text 2"/>
          <p:cNvSpPr/>
          <p:nvPr/>
        </p:nvSpPr>
        <p:spPr>
          <a:xfrm>
            <a:off x="812800" y="20369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JetBrains Mono" pitchFamily="34" charset="0"/>
                <a:ea typeface="JetBrains Mono" pitchFamily="34" charset="-122"/>
                <a:cs typeface="JetBrains Mono" pitchFamily="34" charset="-120"/>
              </a:rPr>
              <a:t>HP addend 1.0 + (2×3) + (−1×0.5) + (1.5×1) + (0.25×1), four E4M3 products</a:t>
            </a:r>
            <a:endParaRPr lang="en-US" sz="1200" dirty="0"/>
          </a:p>
        </p:txBody>
      </p:sp>
      <p:sp>
        <p:nvSpPr>
          <p:cNvPr id="5" name="Shape 3"/>
          <p:cNvSpPr/>
          <p:nvPr/>
        </p:nvSpPr>
        <p:spPr>
          <a:xfrm>
            <a:off x="815975" y="2507456"/>
            <a:ext cx="2514600" cy="2378373"/>
          </a:xfrm>
          <a:prstGeom prst="roundRect">
            <a:avLst>
              <a:gd name="adj" fmla="val 4138"/>
            </a:avLst>
          </a:prstGeom>
          <a:solidFill>
            <a:srgbClr val="FCFBF8"/>
          </a:solidFill>
          <a:ln w="6350">
            <a:solidFill>
              <a:srgbClr val="DDD9CE"/>
            </a:solidFill>
            <a:prstDash val="solid"/>
          </a:ln>
        </p:spPr>
      </p:sp>
      <p:sp>
        <p:nvSpPr>
          <p:cNvPr id="6" name="Text 4"/>
          <p:cNvSpPr/>
          <p:nvPr/>
        </p:nvSpPr>
        <p:spPr>
          <a:xfrm>
            <a:off x="1022350" y="2713831"/>
            <a:ext cx="21649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STAGE 1</a:t>
            </a:r>
            <a:endParaRPr lang="en-US" sz="1200" dirty="0"/>
          </a:p>
        </p:txBody>
      </p:sp>
      <p:sp>
        <p:nvSpPr>
          <p:cNvPr id="7" name="Text 5"/>
          <p:cNvSpPr/>
          <p:nvPr/>
        </p:nvSpPr>
        <p:spPr>
          <a:xfrm>
            <a:off x="1022350" y="3003352"/>
            <a:ext cx="216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Unpack, multiply</a:t>
            </a:r>
            <a:endParaRPr lang="en-US" sz="1600" dirty="0"/>
          </a:p>
        </p:txBody>
      </p:sp>
      <p:sp>
        <p:nvSpPr>
          <p:cNvPr id="8" name="Text 6"/>
          <p:cNvSpPr/>
          <p:nvPr/>
        </p:nvSpPr>
        <p:spPr>
          <a:xfrm>
            <a:off x="1022350" y="3323332"/>
            <a:ext cx="21649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Products kept exact:</a:t>
            </a:r>
            <a:endParaRPr lang="en-US" sz="1200" dirty="0"/>
          </a:p>
        </p:txBody>
      </p:sp>
      <p:sp>
        <p:nvSpPr>
          <p:cNvPr id="9" name="Text 7"/>
          <p:cNvSpPr/>
          <p:nvPr/>
        </p:nvSpPr>
        <p:spPr>
          <a:xfrm>
            <a:off x="1022350" y="3612852"/>
            <a:ext cx="216490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6 = 1.5×2^2</a:t>
            </a:r>
            <a:endParaRPr lang="en-US" sz="1200" dirty="0"/>
          </a:p>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−0.5 = −1.0×2^-1</a:t>
            </a:r>
            <a:endParaRPr lang="en-US" sz="1200" dirty="0"/>
          </a:p>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1.5 = 1.5×2^0</a:t>
            </a:r>
            <a:endParaRPr lang="en-US" sz="1200" dirty="0"/>
          </a:p>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0.25 = 1.0×2^-2</a:t>
            </a:r>
            <a:endParaRPr lang="en-US" sz="1200" dirty="0"/>
          </a:p>
        </p:txBody>
      </p:sp>
      <p:sp>
        <p:nvSpPr>
          <p:cNvPr id="10" name="Shape 8"/>
          <p:cNvSpPr/>
          <p:nvPr/>
        </p:nvSpPr>
        <p:spPr>
          <a:xfrm>
            <a:off x="3489325" y="2507456"/>
            <a:ext cx="2514600" cy="2378373"/>
          </a:xfrm>
          <a:prstGeom prst="roundRect">
            <a:avLst>
              <a:gd name="adj" fmla="val 4138"/>
            </a:avLst>
          </a:prstGeom>
          <a:solidFill>
            <a:srgbClr val="FCFBF8"/>
          </a:solidFill>
          <a:ln w="6350">
            <a:solidFill>
              <a:srgbClr val="DDD9CE"/>
            </a:solidFill>
            <a:prstDash val="solid"/>
          </a:ln>
        </p:spPr>
      </p:sp>
      <p:sp>
        <p:nvSpPr>
          <p:cNvPr id="11" name="Text 9"/>
          <p:cNvSpPr/>
          <p:nvPr/>
        </p:nvSpPr>
        <p:spPr>
          <a:xfrm>
            <a:off x="3695700" y="2713831"/>
            <a:ext cx="21649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STAGE 2</a:t>
            </a:r>
            <a:endParaRPr lang="en-US" sz="1200" dirty="0"/>
          </a:p>
        </p:txBody>
      </p:sp>
      <p:sp>
        <p:nvSpPr>
          <p:cNvPr id="12" name="Text 10"/>
          <p:cNvSpPr/>
          <p:nvPr/>
        </p:nvSpPr>
        <p:spPr>
          <a:xfrm>
            <a:off x="3695700" y="3003352"/>
            <a:ext cx="216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Align to anchor</a:t>
            </a:r>
            <a:endParaRPr lang="en-US" sz="1600" dirty="0"/>
          </a:p>
        </p:txBody>
      </p:sp>
      <p:sp>
        <p:nvSpPr>
          <p:cNvPr id="13" name="Text 11"/>
          <p:cNvSpPr/>
          <p:nvPr/>
        </p:nvSpPr>
        <p:spPr>
          <a:xfrm>
            <a:off x="3695700" y="3323332"/>
            <a:ext cx="21649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Anchor = 6 (exponent 2). Everything shifts right to match it:</a:t>
            </a:r>
            <a:endParaRPr lang="en-US" sz="1200" dirty="0"/>
          </a:p>
        </p:txBody>
      </p:sp>
      <p:sp>
        <p:nvSpPr>
          <p:cNvPr id="14" name="Text 12"/>
          <p:cNvSpPr/>
          <p:nvPr/>
        </p:nvSpPr>
        <p:spPr>
          <a:xfrm>
            <a:off x="3695700" y="4039493"/>
            <a:ext cx="21649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A by 2</a:t>
            </a:r>
            <a:endParaRPr lang="en-US" sz="1200" dirty="0"/>
          </a:p>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products by 0,3,2,4</a:t>
            </a:r>
            <a:endParaRPr lang="en-US" sz="1200" dirty="0"/>
          </a:p>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−0.5 bit-inverted</a:t>
            </a:r>
            <a:endParaRPr lang="en-US" sz="1200" dirty="0"/>
          </a:p>
        </p:txBody>
      </p:sp>
      <p:sp>
        <p:nvSpPr>
          <p:cNvPr id="15" name="Shape 13"/>
          <p:cNvSpPr/>
          <p:nvPr/>
        </p:nvSpPr>
        <p:spPr>
          <a:xfrm>
            <a:off x="6162675" y="2507456"/>
            <a:ext cx="2514600" cy="2378373"/>
          </a:xfrm>
          <a:prstGeom prst="roundRect">
            <a:avLst>
              <a:gd name="adj" fmla="val 4138"/>
            </a:avLst>
          </a:prstGeom>
          <a:solidFill>
            <a:srgbClr val="FCFBF8"/>
          </a:solidFill>
          <a:ln w="6350">
            <a:solidFill>
              <a:srgbClr val="DDD9CE"/>
            </a:solidFill>
            <a:prstDash val="solid"/>
          </a:ln>
        </p:spPr>
      </p:sp>
      <p:sp>
        <p:nvSpPr>
          <p:cNvPr id="16" name="Text 14"/>
          <p:cNvSpPr/>
          <p:nvPr/>
        </p:nvSpPr>
        <p:spPr>
          <a:xfrm>
            <a:off x="6369050" y="2713831"/>
            <a:ext cx="21649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STAGE 3</a:t>
            </a:r>
            <a:endParaRPr lang="en-US" sz="1200" dirty="0"/>
          </a:p>
        </p:txBody>
      </p:sp>
      <p:sp>
        <p:nvSpPr>
          <p:cNvPr id="17" name="Text 15"/>
          <p:cNvSpPr/>
          <p:nvPr/>
        </p:nvSpPr>
        <p:spPr>
          <a:xfrm>
            <a:off x="6369050" y="3003352"/>
            <a:ext cx="216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Add, make positive</a:t>
            </a:r>
            <a:endParaRPr lang="en-US" sz="1600" dirty="0"/>
          </a:p>
        </p:txBody>
      </p:sp>
      <p:sp>
        <p:nvSpPr>
          <p:cNvPr id="18" name="Text 16"/>
          <p:cNvSpPr/>
          <p:nvPr/>
        </p:nvSpPr>
        <p:spPr>
          <a:xfrm>
            <a:off x="6369050" y="3323332"/>
            <a:ext cx="21649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carry-propagate add:</a:t>
            </a:r>
            <a:endParaRPr lang="en-US" sz="1200" dirty="0"/>
          </a:p>
        </p:txBody>
      </p:sp>
      <p:sp>
        <p:nvSpPr>
          <p:cNvPr id="19" name="Text 17"/>
          <p:cNvSpPr/>
          <p:nvPr/>
        </p:nvSpPr>
        <p:spPr>
          <a:xfrm>
            <a:off x="6369050" y="3612852"/>
            <a:ext cx="2164906"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sum = 8.25</a:t>
            </a:r>
            <a:endParaRPr lang="en-US" sz="1200" dirty="0"/>
          </a:p>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positive: no complement</a:t>
            </a:r>
            <a:endParaRPr lang="en-US" sz="1200" dirty="0"/>
          </a:p>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leading 1 one bit high: adjust +1</a:t>
            </a:r>
            <a:endParaRPr lang="en-US" sz="1200" dirty="0"/>
          </a:p>
        </p:txBody>
      </p:sp>
      <p:sp>
        <p:nvSpPr>
          <p:cNvPr id="20" name="Shape 18"/>
          <p:cNvSpPr/>
          <p:nvPr/>
        </p:nvSpPr>
        <p:spPr>
          <a:xfrm>
            <a:off x="8842375" y="2513806"/>
            <a:ext cx="2527300" cy="2365673"/>
          </a:xfrm>
          <a:prstGeom prst="roundRect">
            <a:avLst>
              <a:gd name="adj" fmla="val 3892"/>
            </a:avLst>
          </a:prstGeom>
          <a:solidFill>
            <a:srgbClr val="FCFBF8"/>
          </a:solidFill>
          <a:ln w="19050">
            <a:solidFill>
              <a:srgbClr val="1F5FBF"/>
            </a:solidFill>
            <a:prstDash val="solid"/>
          </a:ln>
        </p:spPr>
      </p:sp>
      <p:sp>
        <p:nvSpPr>
          <p:cNvPr id="21" name="Text 19"/>
          <p:cNvSpPr/>
          <p:nvPr/>
        </p:nvSpPr>
        <p:spPr>
          <a:xfrm>
            <a:off x="9055100" y="2726531"/>
            <a:ext cx="21649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STAGE 4</a:t>
            </a:r>
            <a:endParaRPr lang="en-US" sz="1200" dirty="0"/>
          </a:p>
        </p:txBody>
      </p:sp>
      <p:sp>
        <p:nvSpPr>
          <p:cNvPr id="22" name="Text 20"/>
          <p:cNvSpPr/>
          <p:nvPr/>
        </p:nvSpPr>
        <p:spPr>
          <a:xfrm>
            <a:off x="9055100" y="3016052"/>
            <a:ext cx="216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Normalize, round</a:t>
            </a:r>
            <a:endParaRPr lang="en-US" sz="1600" dirty="0"/>
          </a:p>
        </p:txBody>
      </p:sp>
      <p:sp>
        <p:nvSpPr>
          <p:cNvPr id="23" name="Text 21"/>
          <p:cNvSpPr/>
          <p:nvPr/>
        </p:nvSpPr>
        <p:spPr>
          <a:xfrm>
            <a:off x="9055100" y="3336032"/>
            <a:ext cx="21649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1.03125 × 2^3, exact, so nothing to round:</a:t>
            </a:r>
            <a:endParaRPr lang="en-US" sz="1200" dirty="0"/>
          </a:p>
        </p:txBody>
      </p:sp>
      <p:sp>
        <p:nvSpPr>
          <p:cNvPr id="24" name="Text 22"/>
          <p:cNvSpPr/>
          <p:nvPr/>
        </p:nvSpPr>
        <p:spPr>
          <a:xfrm>
            <a:off x="9055100" y="3838873"/>
            <a:ext cx="21649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0 10010 0000100000</a:t>
            </a:r>
            <a:endParaRPr lang="en-US" sz="1200" dirty="0"/>
          </a:p>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 0x4820</a:t>
            </a:r>
            <a:endParaRPr lang="en-US" sz="1200" dirty="0"/>
          </a:p>
          <a:p>
            <a:pPr algn="l" indent="0" marL="0">
              <a:lnSpc>
                <a:spcPts val="1680"/>
              </a:lnSpc>
              <a:buNone/>
            </a:pPr>
            <a:r>
              <a:rPr lang="en-US" sz="1200" dirty="0">
                <a:solidFill>
                  <a:srgbClr val="16202E"/>
                </a:solidFill>
                <a:latin typeface="JetBrains Mono" pitchFamily="34" charset="0"/>
                <a:ea typeface="JetBrains Mono" pitchFamily="34" charset="-122"/>
                <a:cs typeface="JetBrains Mono" pitchFamily="34" charset="-120"/>
              </a:rPr>
              <a:t>= 8.25</a:t>
            </a:r>
            <a:endParaRPr lang="en-US" sz="1200" dirty="0"/>
          </a:p>
        </p:txBody>
      </p:sp>
      <p:sp>
        <p:nvSpPr>
          <p:cNvPr id="25" name="Text 23"/>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VERIFICATION STRATEGY</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Three layers of self-checking tests</a:t>
            </a:r>
            <a:endParaRPr lang="en-US" sz="3600" dirty="0"/>
          </a:p>
        </p:txBody>
      </p:sp>
      <p:sp>
        <p:nvSpPr>
          <p:cNvPr id="4" name="Shape 2"/>
          <p:cNvSpPr/>
          <p:nvPr/>
        </p:nvSpPr>
        <p:spPr>
          <a:xfrm>
            <a:off x="815975" y="2141736"/>
            <a:ext cx="3380284" cy="2688431"/>
          </a:xfrm>
          <a:prstGeom prst="roundRect">
            <a:avLst>
              <a:gd name="adj" fmla="val 3661"/>
            </a:avLst>
          </a:prstGeom>
          <a:solidFill>
            <a:srgbClr val="FCFBF8"/>
          </a:solidFill>
          <a:ln w="6350">
            <a:solidFill>
              <a:srgbClr val="DDD9CE"/>
            </a:solidFill>
            <a:prstDash val="solid"/>
          </a:ln>
        </p:spPr>
      </p:sp>
      <p:sp>
        <p:nvSpPr>
          <p:cNvPr id="5" name="Text 3"/>
          <p:cNvSpPr/>
          <p:nvPr/>
        </p:nvSpPr>
        <p:spPr>
          <a:xfrm>
            <a:off x="1073150" y="239891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LAYER 1</a:t>
            </a:r>
            <a:endParaRPr lang="en-US" sz="1200" dirty="0"/>
          </a:p>
        </p:txBody>
      </p:sp>
      <p:sp>
        <p:nvSpPr>
          <p:cNvPr id="6" name="Text 4"/>
          <p:cNvSpPr/>
          <p:nvPr/>
        </p:nvSpPr>
        <p:spPr>
          <a:xfrm>
            <a:off x="1073150" y="271383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Golden model</a:t>
            </a:r>
            <a:endParaRPr lang="en-US" sz="2200" dirty="0"/>
          </a:p>
        </p:txBody>
      </p:sp>
      <p:sp>
        <p:nvSpPr>
          <p:cNvPr id="7" name="Text 5"/>
          <p:cNvSpPr/>
          <p:nvPr/>
        </p:nvSpPr>
        <p:spPr>
          <a:xfrm>
            <a:off x="1073150" y="3150691"/>
            <a:ext cx="2951912" cy="14477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Python with exact fractions: computes A + sum of Bi×Ci with no rounding, then rounds once. Shares no code with the RTL.</a:t>
            </a:r>
            <a:endParaRPr lang="en-US" sz="1600" dirty="0"/>
          </a:p>
        </p:txBody>
      </p:sp>
      <p:sp>
        <p:nvSpPr>
          <p:cNvPr id="8" name="Shape 6"/>
          <p:cNvSpPr/>
          <p:nvPr/>
        </p:nvSpPr>
        <p:spPr>
          <a:xfrm>
            <a:off x="4405809" y="2141736"/>
            <a:ext cx="3380383" cy="2688431"/>
          </a:xfrm>
          <a:prstGeom prst="roundRect">
            <a:avLst>
              <a:gd name="adj" fmla="val 3661"/>
            </a:avLst>
          </a:prstGeom>
          <a:solidFill>
            <a:srgbClr val="FCFBF8"/>
          </a:solidFill>
          <a:ln w="6350">
            <a:solidFill>
              <a:srgbClr val="DDD9CE"/>
            </a:solidFill>
            <a:prstDash val="solid"/>
          </a:ln>
        </p:spPr>
      </p:sp>
      <p:sp>
        <p:nvSpPr>
          <p:cNvPr id="9" name="Text 7"/>
          <p:cNvSpPr/>
          <p:nvPr/>
        </p:nvSpPr>
        <p:spPr>
          <a:xfrm>
            <a:off x="4662984" y="2398911"/>
            <a:ext cx="295201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LAYER 2</a:t>
            </a:r>
            <a:endParaRPr lang="en-US" sz="1200" dirty="0"/>
          </a:p>
        </p:txBody>
      </p:sp>
      <p:sp>
        <p:nvSpPr>
          <p:cNvPr id="10" name="Text 8"/>
          <p:cNvSpPr/>
          <p:nvPr/>
        </p:nvSpPr>
        <p:spPr>
          <a:xfrm>
            <a:off x="4662984" y="2713831"/>
            <a:ext cx="29520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Unit tests</a:t>
            </a:r>
            <a:endParaRPr lang="en-US" sz="2200" dirty="0"/>
          </a:p>
        </p:txBody>
      </p:sp>
      <p:sp>
        <p:nvSpPr>
          <p:cNvPr id="11" name="Text 9"/>
          <p:cNvSpPr/>
          <p:nvPr/>
        </p:nvSpPr>
        <p:spPr>
          <a:xfrm>
            <a:off x="4662984" y="3150691"/>
            <a:ext cx="2952014"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28 testbenches, one per RTL block, 46,837 checks against small reference models. They pinpoint which block broke.</a:t>
            </a:r>
            <a:endParaRPr lang="en-US" sz="1600" dirty="0"/>
          </a:p>
        </p:txBody>
      </p:sp>
      <p:sp>
        <p:nvSpPr>
          <p:cNvPr id="12" name="Shape 10"/>
          <p:cNvSpPr/>
          <p:nvPr/>
        </p:nvSpPr>
        <p:spPr>
          <a:xfrm>
            <a:off x="7995741" y="2141736"/>
            <a:ext cx="3380284" cy="2688431"/>
          </a:xfrm>
          <a:prstGeom prst="roundRect">
            <a:avLst>
              <a:gd name="adj" fmla="val 3661"/>
            </a:avLst>
          </a:prstGeom>
          <a:solidFill>
            <a:srgbClr val="FCFBF8"/>
          </a:solidFill>
          <a:ln w="6350">
            <a:solidFill>
              <a:srgbClr val="DDD9CE"/>
            </a:solidFill>
            <a:prstDash val="solid"/>
          </a:ln>
        </p:spPr>
      </p:sp>
      <p:sp>
        <p:nvSpPr>
          <p:cNvPr id="13" name="Text 11"/>
          <p:cNvSpPr/>
          <p:nvPr/>
        </p:nvSpPr>
        <p:spPr>
          <a:xfrm>
            <a:off x="8252916" y="239891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LAYER 3</a:t>
            </a:r>
            <a:endParaRPr lang="en-US" sz="1200" dirty="0"/>
          </a:p>
        </p:txBody>
      </p:sp>
      <p:sp>
        <p:nvSpPr>
          <p:cNvPr id="14" name="Text 12"/>
          <p:cNvSpPr/>
          <p:nvPr/>
        </p:nvSpPr>
        <p:spPr>
          <a:xfrm>
            <a:off x="8252916" y="2713831"/>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System regression</a:t>
            </a:r>
            <a:endParaRPr lang="en-US" sz="2200" dirty="0"/>
          </a:p>
        </p:txBody>
      </p:sp>
      <p:sp>
        <p:nvSpPr>
          <p:cNvPr id="15" name="Text 13"/>
          <p:cNvSpPr/>
          <p:nvPr/>
        </p:nvSpPr>
        <p:spPr>
          <a:xfrm>
            <a:off x="8252916" y="3150691"/>
            <a:ext cx="2951912"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10,743 vectors streamed one per clock, mode and format switching every cycle, compared bit for bit.</a:t>
            </a:r>
            <a:endParaRPr lang="en-US" sz="1600" dirty="0"/>
          </a:p>
        </p:txBody>
      </p:sp>
      <p:sp>
        <p:nvSpPr>
          <p:cNvPr id="16" name="Text 14"/>
          <p:cNvSpPr/>
          <p:nvPr/>
        </p:nvSpPr>
        <p:spPr>
          <a:xfrm>
            <a:off x="812800" y="513814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Cross-checks: identical results on Cadence Xcelium and Vivado xsim, plus 53,715 extra random stress vectors.</a:t>
            </a:r>
            <a:endParaRPr lang="en-US" sz="1600" dirty="0"/>
          </a:p>
        </p:txBody>
      </p:sp>
      <p:sp>
        <p:nvSpPr>
          <p:cNvPr id="17" name="Text 15"/>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DB7F5"/>
                </a:solidFill>
                <a:latin typeface="IBM Plex Sans" pitchFamily="34" charset="0"/>
                <a:ea typeface="IBM Plex Sans" pitchFamily="34" charset="-122"/>
                <a:cs typeface="IBM Plex Sans" pitchFamily="34" charset="-120"/>
              </a:rPr>
              <a:t>RESULTS</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6F5F1"/>
                </a:solidFill>
                <a:latin typeface="IBM Plex Sans" pitchFamily="34" charset="0"/>
                <a:ea typeface="IBM Plex Sans" pitchFamily="34" charset="-122"/>
                <a:cs typeface="IBM Plex Sans" pitchFamily="34" charset="-120"/>
              </a:rPr>
              <a:t>Every check passes</a:t>
            </a:r>
            <a:endParaRPr lang="en-US" sz="3600" dirty="0"/>
          </a:p>
        </p:txBody>
      </p:sp>
      <p:sp>
        <p:nvSpPr>
          <p:cNvPr id="4" name="Shape 2"/>
          <p:cNvSpPr/>
          <p:nvPr/>
        </p:nvSpPr>
        <p:spPr>
          <a:xfrm>
            <a:off x="812800" y="2138561"/>
            <a:ext cx="5181600" cy="1656060"/>
          </a:xfrm>
          <a:prstGeom prst="roundRect">
            <a:avLst>
              <a:gd name="adj" fmla="val 6135"/>
            </a:avLst>
          </a:prstGeom>
          <a:solidFill>
            <a:srgbClr val="1E2B3D"/>
          </a:solidFill>
          <a:ln/>
        </p:spPr>
      </p:sp>
      <p:sp>
        <p:nvSpPr>
          <p:cNvPr id="5" name="Text 3"/>
          <p:cNvSpPr/>
          <p:nvPr/>
        </p:nvSpPr>
        <p:spPr>
          <a:xfrm>
            <a:off x="1066800" y="2392561"/>
            <a:ext cx="481380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6F5F1"/>
                </a:solidFill>
                <a:latin typeface="IBM Plex Sans" pitchFamily="34" charset="0"/>
                <a:ea typeface="IBM Plex Sans" pitchFamily="34" charset="-122"/>
                <a:cs typeface="IBM Plex Sans" pitchFamily="34" charset="-120"/>
              </a:rPr>
              <a:t>10,743</a:t>
            </a:r>
            <a:endParaRPr lang="en-US" sz="6000" dirty="0"/>
          </a:p>
        </p:txBody>
      </p:sp>
      <p:sp>
        <p:nvSpPr>
          <p:cNvPr id="6" name="Text 4"/>
          <p:cNvSpPr/>
          <p:nvPr/>
        </p:nvSpPr>
        <p:spPr>
          <a:xfrm>
            <a:off x="1066800" y="32561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of 10,743 system vectors bit-exact</a:t>
            </a:r>
            <a:endParaRPr lang="en-US" sz="1600" dirty="0"/>
          </a:p>
        </p:txBody>
      </p:sp>
      <p:sp>
        <p:nvSpPr>
          <p:cNvPr id="7" name="Shape 5"/>
          <p:cNvSpPr/>
          <p:nvPr/>
        </p:nvSpPr>
        <p:spPr>
          <a:xfrm>
            <a:off x="6197600" y="2138561"/>
            <a:ext cx="5181600" cy="1656060"/>
          </a:xfrm>
          <a:prstGeom prst="roundRect">
            <a:avLst>
              <a:gd name="adj" fmla="val 6135"/>
            </a:avLst>
          </a:prstGeom>
          <a:solidFill>
            <a:srgbClr val="1E2B3D"/>
          </a:solidFill>
          <a:ln/>
        </p:spPr>
      </p:sp>
      <p:sp>
        <p:nvSpPr>
          <p:cNvPr id="8" name="Text 6"/>
          <p:cNvSpPr/>
          <p:nvPr/>
        </p:nvSpPr>
        <p:spPr>
          <a:xfrm>
            <a:off x="6451600" y="2392561"/>
            <a:ext cx="481380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6F5F1"/>
                </a:solidFill>
                <a:latin typeface="IBM Plex Sans" pitchFamily="34" charset="0"/>
                <a:ea typeface="IBM Plex Sans" pitchFamily="34" charset="-122"/>
                <a:cs typeface="IBM Plex Sans" pitchFamily="34" charset="-120"/>
              </a:rPr>
              <a:t>28 / 28</a:t>
            </a:r>
            <a:endParaRPr lang="en-US" sz="6000" dirty="0"/>
          </a:p>
        </p:txBody>
      </p:sp>
      <p:sp>
        <p:nvSpPr>
          <p:cNvPr id="9" name="Text 7"/>
          <p:cNvSpPr/>
          <p:nvPr/>
        </p:nvSpPr>
        <p:spPr>
          <a:xfrm>
            <a:off x="6451600" y="325616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unit testbenches pass</a:t>
            </a:r>
            <a:endParaRPr lang="en-US" sz="1600" dirty="0"/>
          </a:p>
        </p:txBody>
      </p:sp>
      <p:sp>
        <p:nvSpPr>
          <p:cNvPr id="10" name="Shape 8"/>
          <p:cNvSpPr/>
          <p:nvPr/>
        </p:nvSpPr>
        <p:spPr>
          <a:xfrm>
            <a:off x="812800" y="3997821"/>
            <a:ext cx="5181600" cy="1656060"/>
          </a:xfrm>
          <a:prstGeom prst="roundRect">
            <a:avLst>
              <a:gd name="adj" fmla="val 6135"/>
            </a:avLst>
          </a:prstGeom>
          <a:solidFill>
            <a:srgbClr val="1E2B3D"/>
          </a:solidFill>
          <a:ln/>
        </p:spPr>
      </p:sp>
      <p:sp>
        <p:nvSpPr>
          <p:cNvPr id="11" name="Text 9"/>
          <p:cNvSpPr/>
          <p:nvPr/>
        </p:nvSpPr>
        <p:spPr>
          <a:xfrm>
            <a:off x="1066800" y="4251821"/>
            <a:ext cx="481380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6F5F1"/>
                </a:solidFill>
                <a:latin typeface="IBM Plex Sans" pitchFamily="34" charset="0"/>
                <a:ea typeface="IBM Plex Sans" pitchFamily="34" charset="-122"/>
                <a:cs typeface="IBM Plex Sans" pitchFamily="34" charset="-120"/>
              </a:rPr>
              <a:t>13 / 13</a:t>
            </a:r>
            <a:endParaRPr lang="en-US" sz="6000" dirty="0"/>
          </a:p>
        </p:txBody>
      </p:sp>
      <p:sp>
        <p:nvSpPr>
          <p:cNvPr id="12" name="Text 10"/>
          <p:cNvSpPr/>
          <p:nvPr/>
        </p:nvSpPr>
        <p:spPr>
          <a:xfrm>
            <a:off x="1066800" y="511542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spec sign-off items (F01–F13)</a:t>
            </a:r>
            <a:endParaRPr lang="en-US" sz="1600" dirty="0"/>
          </a:p>
        </p:txBody>
      </p:sp>
      <p:sp>
        <p:nvSpPr>
          <p:cNvPr id="13" name="Shape 11"/>
          <p:cNvSpPr/>
          <p:nvPr/>
        </p:nvSpPr>
        <p:spPr>
          <a:xfrm>
            <a:off x="6197600" y="3997821"/>
            <a:ext cx="5181600" cy="1656060"/>
          </a:xfrm>
          <a:prstGeom prst="roundRect">
            <a:avLst>
              <a:gd name="adj" fmla="val 6135"/>
            </a:avLst>
          </a:prstGeom>
          <a:solidFill>
            <a:srgbClr val="1E2B3D"/>
          </a:solidFill>
          <a:ln/>
        </p:spPr>
      </p:sp>
      <p:sp>
        <p:nvSpPr>
          <p:cNvPr id="14" name="Text 12"/>
          <p:cNvSpPr/>
          <p:nvPr/>
        </p:nvSpPr>
        <p:spPr>
          <a:xfrm>
            <a:off x="6451600" y="4251821"/>
            <a:ext cx="481380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8DB7F5"/>
                </a:solidFill>
                <a:latin typeface="IBM Plex Sans" pitchFamily="34" charset="0"/>
                <a:ea typeface="IBM Plex Sans" pitchFamily="34" charset="-122"/>
                <a:cs typeface="IBM Plex Sans" pitchFamily="34" charset="-120"/>
              </a:rPr>
              <a:t>2</a:t>
            </a:r>
            <a:endParaRPr lang="en-US" sz="6000" dirty="0"/>
          </a:p>
        </p:txBody>
      </p:sp>
      <p:sp>
        <p:nvSpPr>
          <p:cNvPr id="15" name="Text 13"/>
          <p:cNvSpPr/>
          <p:nvPr/>
        </p:nvSpPr>
        <p:spPr>
          <a:xfrm>
            <a:off x="6451600" y="5115421"/>
            <a:ext cx="481380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simulators give identical results</a:t>
            </a:r>
            <a:endParaRPr lang="en-US" sz="1600" dirty="0"/>
          </a:p>
        </p:txBody>
      </p:sp>
      <p:sp>
        <p:nvSpPr>
          <p:cNvPr id="16" name="Text 14"/>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BB0"/>
                </a:solidFill>
                <a:latin typeface="IBM Plex Sans" pitchFamily="34" charset="0"/>
                <a:ea typeface="IBM Plex Sans" pitchFamily="34" charset="-122"/>
                <a:cs typeface="IBM Plex Sans" pitchFamily="34" charset="-120"/>
              </a:rPr>
              <a:t>U_FMA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WHAT THE 10,743 VECTORS CONTAIN</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Tests aimed at the hard corners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51261"/>
          <a:ext cx="5118100" cy="2328069"/>
        </p:xfrm>
        <a:graphic>
          <a:graphicData uri="http://schemas.openxmlformats.org/drawingml/2006/table">
            <a:tbl>
              <a:tblPr/>
              <a:tblGrid>
                <a:gridCol w="1330706"/>
                <a:gridCol w="2866136"/>
                <a:gridCol w="921258"/>
              </a:tblGrid>
              <a:tr h="332581">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Kind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What it exercises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Vectors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MUL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A+B×C, half near-cancelling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3,500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MIX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dot products, half clustered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4,800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SPECIAL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NaN, ±Inf, ±0, max,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740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CANCEL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 = −round(B×C)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740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exactly halfway: round to even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210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OVF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results past the largest value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210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61100" y="2151261"/>
          <a:ext cx="5118100" cy="1995487"/>
        </p:xfrm>
        <a:graphic>
          <a:graphicData uri="http://schemas.openxmlformats.org/drawingml/2006/table">
            <a:tbl>
              <a:tblPr/>
              <a:tblGrid>
                <a:gridCol w="1330706"/>
                <a:gridCol w="2866136"/>
                <a:gridCol w="921258"/>
              </a:tblGrid>
              <a:tr h="332581">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Kind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What it exercises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algn="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Vectors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UNF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subnormal and zero results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210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HEADROOM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5 maximal terms, same sign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64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ANCHOR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each lane the largest, ties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252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DIR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hand-checked, one per bug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17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Total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all 7 formats, both modes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c>
                  <a:txBody>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10,743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BB5"/>
                      </a:solidFill>
                      <a:prstDash val="solid"/>
                      <a:round/>
                      <a:headEnd type="none" w="med" len="med"/>
                      <a:tailEnd type="none" w="med" len="med"/>
                    </a:lnB>
                    <a:solidFill>
                      <a:srgbClr val="ECEAE3"/>
                    </a:solidFill>
                  </a:tcPr>
                </a:tc>
              </a:tr>
            </a:tbl>
          </a:graphicData>
        </a:graphic>
      </p:graphicFrame>
      <p:sp>
        <p:nvSpPr>
          <p:cNvPr id="6" name="Text 2"/>
          <p:cNvSpPr/>
          <p:nvPr/>
        </p:nvSpPr>
        <p:spPr>
          <a:xfrm>
            <a:off x="812800" y="478413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Streamed back-to-back, one per clock, with the mode or format changing between almost every pair of vectors.</a:t>
            </a:r>
            <a:endParaRPr lang="en-US" sz="1600" dirty="0"/>
          </a:p>
        </p:txBody>
      </p:sp>
      <p:sp>
        <p:nvSpPr>
          <p:cNvPr id="7" name="Text 3"/>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07A45"/>
        </a:solidFill>
      </p:bgPr>
    </p:bg>
    <p:spTree>
      <p:nvGrpSpPr>
        <p:cNvPr id="1" name=""/>
        <p:cNvGrpSpPr/>
        <p:nvPr/>
      </p:nvGrpSpPr>
      <p:grpSpPr>
        <a:xfrm>
          <a:off x="0" y="0"/>
          <a:ext cx="0" cy="0"/>
          <a:chOff x="0" y="0"/>
          <a:chExt cx="0" cy="0"/>
        </a:xfrm>
      </p:grpSpPr>
      <p:sp>
        <p:nvSpPr>
          <p:cNvPr id="2" name="Text 0"/>
          <p:cNvSpPr/>
          <p:nvPr/>
        </p:nvSpPr>
        <p:spPr>
          <a:xfrm>
            <a:off x="812800" y="18580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6202E"/>
                </a:solidFill>
                <a:latin typeface="IBM Plex Sans" pitchFamily="34" charset="0"/>
                <a:ea typeface="IBM Plex Sans" pitchFamily="34" charset="-122"/>
                <a:cs typeface="IBM Plex Sans" pitchFamily="34" charset="-120"/>
              </a:rPr>
              <a:t>WHAT VERIFICATION CAUGHT</a:t>
            </a:r>
            <a:endParaRPr lang="en-US" sz="1200" dirty="0"/>
          </a:p>
        </p:txBody>
      </p:sp>
      <p:sp>
        <p:nvSpPr>
          <p:cNvPr id="3" name="Text 1"/>
          <p:cNvSpPr/>
          <p:nvPr/>
        </p:nvSpPr>
        <p:spPr>
          <a:xfrm>
            <a:off x="812800" y="237619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16202E"/>
                </a:solidFill>
                <a:latin typeface="JetBrains Mono" pitchFamily="34" charset="0"/>
                <a:ea typeface="JetBrains Mono" pitchFamily="34" charset="-122"/>
                <a:cs typeface="JetBrains Mono" pitchFamily="34" charset="-120"/>
              </a:rPr>
              <a:t>1.75 + 4 × 1.75 = −7.25</a:t>
            </a:r>
            <a:endParaRPr lang="en-US" sz="6000" dirty="0"/>
          </a:p>
        </p:txBody>
      </p:sp>
      <p:sp>
        <p:nvSpPr>
          <p:cNvPr id="4" name="Text 2"/>
          <p:cNvSpPr/>
          <p:nvPr/>
        </p:nvSpPr>
        <p:spPr>
          <a:xfrm>
            <a:off x="812800" y="3481090"/>
            <a:ext cx="10883392"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6202E"/>
                </a:solidFill>
                <a:latin typeface="IBM Plex Sans" pitchFamily="34" charset="0"/>
                <a:ea typeface="IBM Plex Sans" pitchFamily="34" charset="-122"/>
                <a:cs typeface="IBM Plex Sans" pitchFamily="34" charset="-120"/>
              </a:rPr>
              <a:t>That is what the original RTL returned in mixed-precision mode: five terms overflowed a 40-bit accumulator into its sign bit.</a:t>
            </a:r>
            <a:endParaRPr lang="en-US" sz="2200" dirty="0"/>
          </a:p>
        </p:txBody>
      </p:sp>
      <p:sp>
        <p:nvSpPr>
          <p:cNvPr id="5" name="Text 3"/>
          <p:cNvSpPr/>
          <p:nvPr/>
        </p:nvSpPr>
        <p:spPr>
          <a:xfrm>
            <a:off x="812800" y="451217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Every unit test passed, because each block was right on its own. Only system-level tests found it.</a:t>
            </a:r>
            <a:endParaRPr lang="en-US" sz="1600" dirty="0"/>
          </a:p>
        </p:txBody>
      </p:sp>
      <p:sp>
        <p:nvSpPr>
          <p:cNvPr id="6" name="Text 4"/>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U_FMA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29989"/>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1F5FBF"/>
                </a:solidFill>
                <a:latin typeface="IBM Plex Sans" pitchFamily="34" charset="0"/>
                <a:ea typeface="IBM Plex Sans" pitchFamily="34" charset="-122"/>
                <a:cs typeface="IBM Plex Sans" pitchFamily="34" charset="-120"/>
              </a:rPr>
              <a:t>BUGS FOUND AND FIXED</a:t>
            </a:r>
            <a:endParaRPr lang="en-US" sz="1159" dirty="0"/>
          </a:p>
        </p:txBody>
      </p:sp>
      <p:sp>
        <p:nvSpPr>
          <p:cNvPr id="3" name="Text 1"/>
          <p:cNvSpPr/>
          <p:nvPr/>
        </p:nvSpPr>
        <p:spPr>
          <a:xfrm>
            <a:off x="812800" y="1322189"/>
            <a:ext cx="10883392" cy="507504"/>
          </a:xfrm>
          <a:prstGeom prst="rect">
            <a:avLst/>
          </a:prstGeom>
          <a:noFill/>
          <a:ln/>
        </p:spPr>
        <p:txBody>
          <a:bodyPr wrap="square" lIns="0" tIns="0" rIns="0" bIns="0" rtlCol="0" anchor="t">
            <a:normAutofit/>
          </a:bodyPr>
          <a:lstStyle/>
          <a:p>
            <a:pPr algn="l" indent="0" marL="0">
              <a:lnSpc>
                <a:spcPts val="3824"/>
              </a:lnSpc>
              <a:buNone/>
            </a:pPr>
            <a:r>
              <a:rPr lang="en-US" sz="3476" b="1" dirty="0">
                <a:solidFill>
                  <a:srgbClr val="16202E"/>
                </a:solidFill>
                <a:latin typeface="IBM Plex Sans" pitchFamily="34" charset="0"/>
                <a:ea typeface="IBM Plex Sans" pitchFamily="34" charset="-122"/>
                <a:cs typeface="IBM Plex Sans" pitchFamily="34" charset="-120"/>
              </a:rPr>
              <a:t>Eight bugs found, fixed and locked in</a:t>
            </a:r>
            <a:endParaRPr lang="en-US" sz="3476"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21793"/>
          <a:ext cx="10553700" cy="2869902"/>
        </p:xfrm>
        <a:graphic>
          <a:graphicData uri="http://schemas.openxmlformats.org/drawingml/2006/table">
            <a:tbl>
              <a:tblPr/>
              <a:tblGrid>
                <a:gridCol w="633222"/>
                <a:gridCol w="5276850"/>
                <a:gridCol w="4643628"/>
              </a:tblGrid>
              <a:tr h="318790">
                <a:tc>
                  <a:txBody>
                    <a:bodyPr/>
                    <a:lstStyle/>
                    <a:p>
                      <a:pPr indent="0" marL="0">
                        <a:lnSpc>
                          <a:spcPts val="1606"/>
                        </a:lnSpc>
                        <a:buNone/>
                      </a:pPr>
                      <a:r>
                        <a:rPr lang="en-US" sz="1148" b="1" dirty="0">
                          <a:solidFill>
                            <a:srgbClr val="16202E"/>
                          </a:solidFill>
                          <a:latin typeface="IBM Plex Sans" pitchFamily="34" charset="0"/>
                          <a:ea typeface="IBM Plex Sans" pitchFamily="34" charset="-122"/>
                          <a:cs typeface="IBM Plex Sans" pitchFamily="34" charset="-120"/>
                        </a:rPr>
                        <a:t>#</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06"/>
                        </a:lnSpc>
                        <a:buNone/>
                      </a:pPr>
                      <a:r>
                        <a:rPr lang="en-US" sz="1148" b="1" dirty="0">
                          <a:solidFill>
                            <a:srgbClr val="16202E"/>
                          </a:solidFill>
                          <a:latin typeface="IBM Plex Sans" pitchFamily="34" charset="0"/>
                          <a:ea typeface="IBM Plex Sans" pitchFamily="34" charset="-122"/>
                          <a:cs typeface="IBM Plex Sans" pitchFamily="34" charset="-120"/>
                        </a:rPr>
                        <a:t>What went wrong</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606"/>
                        </a:lnSpc>
                        <a:buNone/>
                      </a:pPr>
                      <a:r>
                        <a:rPr lang="en-US" sz="1148" b="1" dirty="0">
                          <a:solidFill>
                            <a:srgbClr val="16202E"/>
                          </a:solidFill>
                          <a:latin typeface="IBM Plex Sans" pitchFamily="34" charset="0"/>
                          <a:ea typeface="IBM Plex Sans" pitchFamily="34" charset="-122"/>
                          <a:cs typeface="IBM Plex Sans" pitchFamily="34" charset="-120"/>
                        </a:rPr>
                        <a:t>Fix</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318889">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B1</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SP products cut to 24 bits: results 1 ULP low</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Keep the exact 48-bit product</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18889">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B2</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Subnormal results truncated, not rounded</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Stop normalizing at emin, round once</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18889">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B3</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Sign of lost low bits wrong for negative sums</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Sticky jam bit and exact negation</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18889">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B4</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1.75 + 4 × 1.75 gave −7.25 (overflow)</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76-bit accumulator, 3 headroom bits</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18889">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B5</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A = −round(B×C) gave 2^-36, not 2^-46</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Same as B1: exact product</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18889">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B6</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−Inf became +Inf</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Inf takes the infinite operand's sign</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18889">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B7</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Inf − Inf gave Inf, not NaN</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Invalid-operation check (RTL and model)</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18889">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B8</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−0 + (−0) gave +0</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06"/>
                        </a:lnSpc>
                        <a:buNone/>
                      </a:pPr>
                      <a:r>
                        <a:rPr lang="en-US" sz="1148" dirty="0">
                          <a:solidFill>
                            <a:srgbClr val="16202E"/>
                          </a:solidFill>
                          <a:latin typeface="IBM Plex Sans" pitchFamily="34" charset="0"/>
                          <a:ea typeface="IBM Plex Sans" pitchFamily="34" charset="-122"/>
                          <a:cs typeface="IBM Plex Sans" pitchFamily="34" charset="-120"/>
                        </a:rPr>
                        <a:t>IEEE signed-zero rule (RTL and model)</a:t>
                      </a:r>
                      <a:endParaRPr lang="en-US" sz="1148" dirty="0">
                        <a:latin typeface="IBM Plex Sans" charset="0"/>
                        <a:ea typeface="IBM Plex Sans" charset="0"/>
                        <a:cs typeface="IBM Plex Sans" charset="0"/>
                      </a:endParaRPr>
                    </a:p>
                  </a:txBody>
                  <a:tcPr marL="51006" marR="51006" marT="51006" marB="51006"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5296495"/>
            <a:ext cx="10883392" cy="570905"/>
          </a:xfrm>
          <a:prstGeom prst="rect">
            <a:avLst/>
          </a:prstGeom>
          <a:noFill/>
          <a:ln/>
        </p:spPr>
        <p:txBody>
          <a:bodyPr wrap="square" lIns="0" tIns="0" rIns="0" bIns="0" rtlCol="0" anchor="t">
            <a:normAutofit/>
          </a:bodyPr>
          <a:lstStyle/>
          <a:p>
            <a:pPr algn="l" indent="0" marL="0">
              <a:lnSpc>
                <a:spcPts val="2156"/>
              </a:lnSpc>
              <a:buNone/>
            </a:pPr>
            <a:r>
              <a:rPr lang="en-US" sz="1540" dirty="0">
                <a:solidFill>
                  <a:srgbClr val="4A5568"/>
                </a:solidFill>
                <a:latin typeface="IBM Plex Sans" pitchFamily="34" charset="0"/>
                <a:ea typeface="IBM Plex Sans" pitchFamily="34" charset="-122"/>
                <a:cs typeface="IBM Plex Sans" pitchFamily="34" charset="-120"/>
              </a:rPr>
              <a:t>Original regression 909 / 925 → now 925 / 925, and 10,743 / 10,743 on the new, harder set. Each bug has its own regression vector.</a:t>
            </a:r>
            <a:endParaRPr lang="en-US" sz="1540" dirty="0"/>
          </a:p>
        </p:txBody>
      </p:sp>
      <p:sp>
        <p:nvSpPr>
          <p:cNvPr id="6" name="Text 3"/>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SPEC SIGN-OFF (MPFMA-DS-001 §13)</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All thirteen required checks pass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51261"/>
          <a:ext cx="5118100" cy="2660650"/>
        </p:xfrm>
        <a:graphic>
          <a:graphicData uri="http://schemas.openxmlformats.org/drawingml/2006/table">
            <a:tbl>
              <a:tblPr/>
              <a:tblGrid>
                <a:gridCol w="716534"/>
                <a:gridCol w="3377946"/>
                <a:gridCol w="1023620"/>
              </a:tblGrid>
              <a:tr h="332581">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AFAEA8"/>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AFAEA8"/>
                      </a:solidFill>
                      <a:prstDash val="solid"/>
                      <a:round/>
                      <a:headEnd type="none" w="med" len="med"/>
                      <a:tailEnd type="none" w="med" len="med"/>
                    </a:lnB>
                    <a:solidFill>
                      <a:srgbClr val="DBD9D2"/>
                    </a:solidFill>
                  </a:tcPr>
                </a:tc>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Requirement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FAEA8"/>
                      </a:solidFill>
                      <a:prstDash val="solid"/>
                      <a:round/>
                      <a:headEnd type="none" w="med" len="med"/>
                      <a:tailEnd type="none" w="med" len="med"/>
                    </a:lnL>
                    <a:lnR w="12700" cap="flat" cmpd="sng" algn="ctr">
                      <a:solidFill>
                        <a:srgbClr val="AFAEA8"/>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AFAEA8"/>
                      </a:solidFill>
                      <a:prstDash val="solid"/>
                      <a:round/>
                      <a:headEnd type="none" w="med" len="med"/>
                      <a:tailEnd type="none" w="med" len="med"/>
                    </a:lnB>
                    <a:solidFill>
                      <a:srgbClr val="DBD9D2"/>
                    </a:solidFill>
                  </a:tcPr>
                </a:tc>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FAEA8"/>
                      </a:solidFill>
                      <a:prstDash val="solid"/>
                      <a:round/>
                      <a:headEnd type="none" w="med" len="med"/>
                      <a:tailEnd type="none" w="med" len="med"/>
                    </a:lnL>
                    <a:lnR w="12700" cap="flat" cmpd="sng" algn="ctr">
                      <a:solidFill>
                        <a:srgbClr val="AFAEA8"/>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AFAEA8"/>
                      </a:solidFill>
                      <a:prstDash val="solid"/>
                      <a:round/>
                      <a:headEnd type="none" w="med" len="med"/>
                      <a:tailEnd type="none" w="med" len="med"/>
                    </a:lnB>
                    <a:solidFill>
                      <a:srgbClr val="DBD9D2"/>
                    </a:solidFill>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AFAEA8"/>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A+B×C correct in every format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AFAEA8"/>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AFAEA8"/>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F02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4 independent 8-bit lanes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F03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2 independent 16-bit lanes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16-bit + 4 × 8-bit dot product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32/19-bit + 4 × 8-bit, ties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F06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32/19-bit + 2 × 16-bit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F07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Anchor choice, every permutation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61100" y="2151261"/>
          <a:ext cx="5118100" cy="2328069"/>
        </p:xfrm>
        <a:graphic>
          <a:graphicData uri="http://schemas.openxmlformats.org/drawingml/2006/table">
            <a:tbl>
              <a:tblPr/>
              <a:tblGrid>
                <a:gridCol w="716534"/>
                <a:gridCol w="3377946"/>
                <a:gridCol w="1023620"/>
              </a:tblGrid>
              <a:tr h="332581">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AFAEA8"/>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AFAEA8"/>
                      </a:solidFill>
                      <a:prstDash val="solid"/>
                      <a:round/>
                      <a:headEnd type="none" w="med" len="med"/>
                      <a:tailEnd type="none" w="med" len="med"/>
                    </a:lnB>
                    <a:solidFill>
                      <a:srgbClr val="DBD9D2"/>
                    </a:solidFill>
                  </a:tcPr>
                </a:tc>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Requirement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FAEA8"/>
                      </a:solidFill>
                      <a:prstDash val="solid"/>
                      <a:round/>
                      <a:headEnd type="none" w="med" len="med"/>
                      <a:tailEnd type="none" w="med" len="med"/>
                    </a:lnL>
                    <a:lnR w="12700" cap="flat" cmpd="sng" algn="ctr">
                      <a:solidFill>
                        <a:srgbClr val="AFAEA8"/>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AFAEA8"/>
                      </a:solidFill>
                      <a:prstDash val="solid"/>
                      <a:round/>
                      <a:headEnd type="none" w="med" len="med"/>
                      <a:tailEnd type="none" w="med" len="med"/>
                    </a:lnB>
                    <a:solidFill>
                      <a:srgbClr val="DBD9D2"/>
                    </a:solidFill>
                  </a:tcPr>
                </a:tc>
                <a:tc>
                  <a:txBody>
                    <a:bodyPr/>
                    <a:lstStyle/>
                    <a:p>
                      <a:pPr indent="0" marL="0">
                        <a:lnSpc>
                          <a:spcPts val="1680"/>
                        </a:lnSpc>
                        <a:buNone/>
                      </a:pPr>
                      <a:r>
                        <a:rPr lang="en-US" sz="1200" b="1" dirty="0">
                          <a:solidFill>
                            <a:srgbClr val="16202E"/>
                          </a:solidFill>
                          <a:latin typeface="IBM Plex Sans" pitchFamily="34" charset="0"/>
                          <a:ea typeface="IBM Plex Sans" pitchFamily="34" charset="-122"/>
                          <a:cs typeface="IBM Plex Sans" pitchFamily="34" charset="-120"/>
                        </a:rPr>
                        <a:t>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FAEA8"/>
                      </a:solidFill>
                      <a:prstDash val="solid"/>
                      <a:round/>
                      <a:headEnd type="none" w="med" len="med"/>
                      <a:tailEnd type="none" w="med" len="med"/>
                    </a:lnL>
                    <a:lnR w="12700" cap="flat" cmpd="sng" algn="ctr">
                      <a:solidFill>
                        <a:srgbClr val="AFAEA8"/>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AFAEA8"/>
                      </a:solidFill>
                      <a:prstDash val="solid"/>
                      <a:round/>
                      <a:headEnd type="none" w="med" len="med"/>
                      <a:tailEnd type="none" w="med" len="med"/>
                    </a:lnB>
                    <a:solidFill>
                      <a:srgbClr val="DBD9D2"/>
                    </a:solidFill>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F08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AFAEA8"/>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Subnormal inputs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AFAEA8"/>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AFAEA8"/>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Worst-case five-term overflow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Round-to-nearest-even, ties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Exponent widths 4, 5, 6 and 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One op per clock, fixed latency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r h="332581">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F13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6202E"/>
                          </a:solidFill>
                          <a:latin typeface="IBM Plex Sans" pitchFamily="34" charset="0"/>
                          <a:ea typeface="IBM Plex Sans" pitchFamily="34" charset="-122"/>
                          <a:cs typeface="IBM Plex Sans" pitchFamily="34" charset="-120"/>
                        </a:rPr>
                        <a:t>Mode switch every cycle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c>
                  <a:txBody>
                    <a:bodyPr/>
                    <a:lstStyle/>
                    <a:p>
                      <a:pPr indent="0" marL="0">
                        <a:lnSpc>
                          <a:spcPts val="1680"/>
                        </a:lnSpc>
                        <a:buNone/>
                      </a:pPr>
                      <a:r>
                        <a:rPr lang="en-US" sz="1200" dirty="0">
                          <a:solidFill>
                            <a:srgbClr val="1F5FBF"/>
                          </a:solidFill>
                          <a:latin typeface="IBM Plex Sans" pitchFamily="34" charset="0"/>
                          <a:ea typeface="IBM Plex Sans" pitchFamily="34" charset="-122"/>
                          <a:cs typeface="IBM Plex Sans" pitchFamily="34" charset="-120"/>
                        </a:rPr>
                        <a:t>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BB5"/>
                      </a:solidFill>
                      <a:prstDash val="solid"/>
                      <a:round/>
                      <a:headEnd type="none" w="med" len="med"/>
                      <a:tailEnd type="none" w="med" len="med"/>
                    </a:lnL>
                    <a:lnR w="12700" cap="flat" cmpd="sng" algn="ctr">
                      <a:solidFill>
                        <a:srgbClr val="BCBBB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BCBBB5"/>
                      </a:solidFill>
                      <a:prstDash val="solid"/>
                      <a:round/>
                      <a:headEnd type="none" w="med" len="med"/>
                      <a:tailEnd type="none" w="med" len="med"/>
                    </a:lnB>
                  </a:tcPr>
                </a:tc>
              </a:tr>
            </a:tbl>
          </a:graphicData>
        </a:graphic>
      </p:graphicFrame>
      <p:sp>
        <p:nvSpPr>
          <p:cNvPr id="6" name="Text 2"/>
          <p:cNvSpPr/>
          <p:nvPr/>
        </p:nvSpPr>
        <p:spPr>
          <a:xfrm>
            <a:off x="812800" y="511671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Not covered in this phase: synthesis area and timing sign-off.</a:t>
            </a:r>
            <a:endParaRPr lang="en-US" sz="1200" dirty="0"/>
          </a:p>
        </p:txBody>
      </p:sp>
      <p:sp>
        <p:nvSpPr>
          <p:cNvPr id="7" name="Text 3"/>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LIVE DEMO</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Three commands show everything</a:t>
            </a:r>
            <a:endParaRPr lang="en-US" sz="3600" dirty="0"/>
          </a:p>
        </p:txBody>
      </p:sp>
      <p:sp>
        <p:nvSpPr>
          <p:cNvPr id="4" name="Text 2"/>
          <p:cNvSpPr/>
          <p:nvPr/>
        </p:nvSpPr>
        <p:spPr>
          <a:xfrm>
            <a:off x="812800" y="2138561"/>
            <a:ext cx="4572000" cy="589260"/>
          </a:xfrm>
          <a:prstGeom prst="roundRect">
            <a:avLst>
              <a:gd name="adj" fmla="val 12931"/>
            </a:avLst>
          </a:prstGeom>
          <a:solidFill>
            <a:srgbClr val="16202E"/>
          </a:solidFill>
          <a:ln/>
        </p:spPr>
        <p:txBody>
          <a:bodyPr wrap="square" lIns="180882" tIns="130082" rIns="55914" bIns="104682" rtlCol="0" anchor="t">
            <a:normAutofit/>
          </a:bodyPr>
          <a:lstStyle/>
          <a:p>
            <a:pPr algn="l" indent="0" marL="0">
              <a:lnSpc>
                <a:spcPts val="2240"/>
              </a:lnSpc>
              <a:buNone/>
            </a:pPr>
            <a:r>
              <a:rPr lang="en-US" sz="1600" dirty="0">
                <a:solidFill>
                  <a:srgbClr val="F6F5F1"/>
                </a:solidFill>
                <a:latin typeface="JetBrains Mono" pitchFamily="34" charset="0"/>
                <a:ea typeface="JetBrains Mono" pitchFamily="34" charset="-122"/>
                <a:cs typeface="JetBrains Mono" pitchFamily="34" charset="-120"/>
              </a:rPr>
              <a:t>./run_all.sh</a:t>
            </a:r>
            <a:endParaRPr lang="en-US" sz="1600" dirty="0"/>
          </a:p>
        </p:txBody>
      </p:sp>
      <p:sp>
        <p:nvSpPr>
          <p:cNvPr id="5" name="Text 3"/>
          <p:cNvSpPr/>
          <p:nvPr/>
        </p:nvSpPr>
        <p:spPr>
          <a:xfrm>
            <a:off x="5638800" y="2148681"/>
            <a:ext cx="59126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Unit tests, full regression and report: ALL PASS in about two minutes.</a:t>
            </a:r>
            <a:endParaRPr lang="en-US" sz="1600" dirty="0"/>
          </a:p>
        </p:txBody>
      </p:sp>
      <p:sp>
        <p:nvSpPr>
          <p:cNvPr id="6" name="Text 4"/>
          <p:cNvSpPr/>
          <p:nvPr/>
        </p:nvSpPr>
        <p:spPr>
          <a:xfrm>
            <a:off x="812800" y="2880221"/>
            <a:ext cx="4572000" cy="589260"/>
          </a:xfrm>
          <a:prstGeom prst="roundRect">
            <a:avLst>
              <a:gd name="adj" fmla="val 12931"/>
            </a:avLst>
          </a:prstGeom>
          <a:solidFill>
            <a:srgbClr val="16202E"/>
          </a:solidFill>
          <a:ln/>
        </p:spPr>
        <p:txBody>
          <a:bodyPr wrap="square" lIns="180882" tIns="130082" rIns="55914" bIns="104682" rtlCol="0" anchor="t">
            <a:normAutofit/>
          </a:bodyPr>
          <a:lstStyle/>
          <a:p>
            <a:pPr algn="l" indent="0" marL="0">
              <a:lnSpc>
                <a:spcPts val="2240"/>
              </a:lnSpc>
              <a:buNone/>
            </a:pPr>
            <a:r>
              <a:rPr lang="en-US" sz="1600" dirty="0">
                <a:solidFill>
                  <a:srgbClr val="F6F5F1"/>
                </a:solidFill>
                <a:latin typeface="JetBrains Mono" pitchFamily="34" charset="0"/>
                <a:ea typeface="JetBrains Mono" pitchFamily="34" charset="-122"/>
                <a:cs typeface="JetBrains Mono" pitchFamily="34" charset="-120"/>
              </a:rPr>
              <a:t>tb/run_sim.sh --demo --gui</a:t>
            </a:r>
            <a:endParaRPr lang="en-US" sz="1600" dirty="0"/>
          </a:p>
        </p:txBody>
      </p:sp>
      <p:sp>
        <p:nvSpPr>
          <p:cNvPr id="7" name="Text 5"/>
          <p:cNvSpPr/>
          <p:nvPr/>
        </p:nvSpPr>
        <p:spPr>
          <a:xfrm>
            <a:off x="5638800" y="2890341"/>
            <a:ext cx="59126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40 operations in SimVision, shown as plain decimals: got next to expected, mismatch flag stays 0.</a:t>
            </a:r>
            <a:endParaRPr lang="en-US" sz="1600" dirty="0"/>
          </a:p>
        </p:txBody>
      </p:sp>
      <p:sp>
        <p:nvSpPr>
          <p:cNvPr id="8" name="Text 6"/>
          <p:cNvSpPr/>
          <p:nvPr/>
        </p:nvSpPr>
        <p:spPr>
          <a:xfrm>
            <a:off x="812800" y="3621881"/>
            <a:ext cx="4572000" cy="589260"/>
          </a:xfrm>
          <a:prstGeom prst="roundRect">
            <a:avLst>
              <a:gd name="adj" fmla="val 12931"/>
            </a:avLst>
          </a:prstGeom>
          <a:solidFill>
            <a:srgbClr val="16202E"/>
          </a:solidFill>
          <a:ln/>
        </p:spPr>
        <p:txBody>
          <a:bodyPr wrap="square" lIns="180882" tIns="130082" rIns="55914" bIns="104682" rtlCol="0" anchor="t">
            <a:normAutofit/>
          </a:bodyPr>
          <a:lstStyle/>
          <a:p>
            <a:pPr algn="l" indent="0" marL="0">
              <a:lnSpc>
                <a:spcPts val="2240"/>
              </a:lnSpc>
              <a:buNone/>
            </a:pPr>
            <a:r>
              <a:rPr lang="en-US" sz="1600" dirty="0">
                <a:solidFill>
                  <a:srgbClr val="F6F5F1"/>
                </a:solidFill>
                <a:latin typeface="JetBrains Mono" pitchFamily="34" charset="0"/>
                <a:ea typeface="JetBrains Mono" pitchFamily="34" charset="-122"/>
                <a:cs typeface="JetBrains Mono" pitchFamily="34" charset="-120"/>
              </a:rPr>
              <a:t>docs/VERIFICATION_REPORT.md</a:t>
            </a:r>
            <a:endParaRPr lang="en-US" sz="1600" dirty="0"/>
          </a:p>
        </p:txBody>
      </p:sp>
      <p:sp>
        <p:nvSpPr>
          <p:cNvPr id="9" name="Text 7"/>
          <p:cNvSpPr/>
          <p:nvPr/>
        </p:nvSpPr>
        <p:spPr>
          <a:xfrm>
            <a:off x="5638800" y="3632002"/>
            <a:ext cx="59126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Every result decoded: −0.734375 + (28 × 0.4375) + … = 9.078125 → 0x488a PASS.</a:t>
            </a:r>
            <a:endParaRPr lang="en-US" sz="1600" dirty="0"/>
          </a:p>
        </p:txBody>
      </p:sp>
      <p:sp>
        <p:nvSpPr>
          <p:cNvPr id="10" name="Text 8"/>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AE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LIMITS, STATED HONESTLY</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6202E"/>
                </a:solidFill>
                <a:latin typeface="IBM Plex Sans" pitchFamily="34" charset="0"/>
                <a:ea typeface="IBM Plex Sans" pitchFamily="34" charset="-122"/>
                <a:cs typeface="IBM Plex Sans" pitchFamily="34" charset="-120"/>
              </a:rPr>
              <a:t>What this design does not do</a:t>
            </a:r>
            <a:endParaRPr lang="en-US" sz="3600" dirty="0"/>
          </a:p>
        </p:txBody>
      </p:sp>
      <p:sp>
        <p:nvSpPr>
          <p:cNvPr id="4" name="Shape 2"/>
          <p:cNvSpPr/>
          <p:nvPr/>
        </p:nvSpPr>
        <p:spPr>
          <a:xfrm>
            <a:off x="815975" y="2141736"/>
            <a:ext cx="5175250" cy="2759571"/>
          </a:xfrm>
          <a:prstGeom prst="roundRect">
            <a:avLst>
              <a:gd name="adj" fmla="val 3567"/>
            </a:avLst>
          </a:prstGeom>
          <a:solidFill>
            <a:srgbClr val="FCFBF8"/>
          </a:solidFill>
          <a:ln w="6350">
            <a:solidFill>
              <a:srgbClr val="DDD9CE"/>
            </a:solidFill>
            <a:prstDash val="solid"/>
          </a:ln>
        </p:spPr>
      </p:sp>
      <p:sp>
        <p:nvSpPr>
          <p:cNvPr id="5" name="Text 3"/>
          <p:cNvSpPr/>
          <p:nvPr/>
        </p:nvSpPr>
        <p:spPr>
          <a:xfrm>
            <a:off x="1073150" y="239891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Known limitation</a:t>
            </a:r>
            <a:endParaRPr lang="en-US" sz="2200" dirty="0"/>
          </a:p>
        </p:txBody>
      </p:sp>
      <p:sp>
        <p:nvSpPr>
          <p:cNvPr id="6" name="Text 4"/>
          <p:cNvSpPr/>
          <p:nvPr/>
        </p:nvSpPr>
        <p:spPr>
          <a:xfrm>
            <a:off x="1073150" y="2835771"/>
            <a:ext cx="4800727"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Mixed mode adds five terms in one 76-bit accumulator. A term about 70 binades below the largest survives only as a sticky bit.</a:t>
            </a:r>
            <a:endParaRPr lang="en-US" sz="1600" dirty="0"/>
          </a:p>
        </p:txBody>
      </p:sp>
      <p:sp>
        <p:nvSpPr>
          <p:cNvPr id="7" name="Text 5"/>
          <p:cNvSpPr/>
          <p:nvPr/>
        </p:nvSpPr>
        <p:spPr>
          <a:xfrm>
            <a:off x="1073150" y="3790752"/>
            <a:ext cx="4800727"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If the rest cancels exactly or lands on a tie, the result can be off: 3 of 53,715 stress vectors. Any fixed-width accumulator has this, the paper's too.</a:t>
            </a:r>
            <a:endParaRPr lang="en-US" sz="1600" dirty="0"/>
          </a:p>
        </p:txBody>
      </p:sp>
      <p:sp>
        <p:nvSpPr>
          <p:cNvPr id="8" name="Shape 6"/>
          <p:cNvSpPr/>
          <p:nvPr/>
        </p:nvSpPr>
        <p:spPr>
          <a:xfrm>
            <a:off x="6200775" y="2141736"/>
            <a:ext cx="5175250" cy="2759571"/>
          </a:xfrm>
          <a:prstGeom prst="roundRect">
            <a:avLst>
              <a:gd name="adj" fmla="val 3567"/>
            </a:avLst>
          </a:prstGeom>
          <a:solidFill>
            <a:srgbClr val="FCFBF8"/>
          </a:solidFill>
          <a:ln w="6350">
            <a:solidFill>
              <a:srgbClr val="DDD9CE"/>
            </a:solidFill>
            <a:prstDash val="solid"/>
          </a:ln>
        </p:spPr>
      </p:sp>
      <p:sp>
        <p:nvSpPr>
          <p:cNvPr id="9" name="Text 7"/>
          <p:cNvSpPr/>
          <p:nvPr/>
        </p:nvSpPr>
        <p:spPr>
          <a:xfrm>
            <a:off x="6457950" y="2398911"/>
            <a:ext cx="480072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Deviations and scope</a:t>
            </a:r>
            <a:endParaRPr lang="en-US" sz="2200" dirty="0"/>
          </a:p>
        </p:txBody>
      </p:sp>
      <p:sp>
        <p:nvSpPr>
          <p:cNvPr id="10" name="Text 8"/>
          <p:cNvSpPr/>
          <p:nvPr/>
        </p:nvSpPr>
        <p:spPr>
          <a:xfrm>
            <a:off x="6515608" y="2835771"/>
            <a:ext cx="4735449" cy="144770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One 24-bit significand for all formats</a:t>
            </a:r>
            <a:endParaRPr lang="en-US" sz="1600" dirty="0"/>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Barrel shifters, not the 7-level aligner</a:t>
            </a:r>
            <a:endParaRPr lang="en-US" sz="1600" dirty="0"/>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Leading-zero count after the add</a:t>
            </a:r>
            <a:endParaRPr lang="en-US" sz="1600" dirty="0"/>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Round-to-nearest-even only</a:t>
            </a:r>
            <a:endParaRPr lang="en-US" sz="1600" dirty="0"/>
          </a:p>
          <a:p>
            <a:pPr algn="l" marL="196342" indent="-196342">
              <a:lnSpc>
                <a:spcPts val="2240"/>
              </a:lnSpc>
              <a:buSzPct val="100000"/>
              <a:buChar char="•"/>
            </a:pPr>
            <a:r>
              <a:rPr lang="en-US" sz="1600" dirty="0">
                <a:solidFill>
                  <a:srgbClr val="4A5568"/>
                </a:solidFill>
                <a:latin typeface="IBM Plex Sans" pitchFamily="34" charset="0"/>
                <a:ea typeface="IBM Plex Sans" pitchFamily="34" charset="-122"/>
                <a:cs typeface="IBM Plex Sans" pitchFamily="34" charset="-120"/>
              </a:rPr>
              <a:t>Synthesis not done yet</a:t>
            </a:r>
            <a:endParaRPr lang="en-US" sz="1600" dirty="0"/>
          </a:p>
        </p:txBody>
      </p:sp>
      <p:sp>
        <p:nvSpPr>
          <p:cNvPr id="11" name="Text 9"/>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U_FMA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DB7F5"/>
                </a:solidFill>
                <a:latin typeface="IBM Plex Sans" pitchFamily="34" charset="0"/>
                <a:ea typeface="IBM Plex Sans" pitchFamily="34" charset="-122"/>
                <a:cs typeface="IBM Plex Sans" pitchFamily="34" charset="-120"/>
              </a:rPr>
              <a:t>SUMMARY</a:t>
            </a:r>
            <a:endParaRPr lang="en-US" sz="1200" dirty="0"/>
          </a:p>
        </p:txBody>
      </p:sp>
      <p:sp>
        <p:nvSpPr>
          <p:cNvPr id="3" name="Text 1"/>
          <p:cNvSpPr/>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6F5F1"/>
                </a:solidFill>
                <a:latin typeface="IBM Plex Sans" pitchFamily="34" charset="0"/>
                <a:ea typeface="IBM Plex Sans" pitchFamily="34" charset="-122"/>
                <a:cs typeface="IBM Plex Sans" pitchFamily="34" charset="-120"/>
              </a:rPr>
              <a:t>Complete, correct and explained</a:t>
            </a:r>
            <a:endParaRPr lang="en-US" sz="3600" dirty="0"/>
          </a:p>
        </p:txBody>
      </p:sp>
      <p:sp>
        <p:nvSpPr>
          <p:cNvPr id="4" name="Text 2"/>
          <p:cNvSpPr/>
          <p:nvPr/>
        </p:nvSpPr>
        <p:spPr>
          <a:xfrm>
            <a:off x="812800" y="2138561"/>
            <a:ext cx="10883392"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6F5F1"/>
                </a:solidFill>
                <a:latin typeface="IBM Plex Sans" pitchFamily="34" charset="0"/>
                <a:ea typeface="IBM Plex Sans" pitchFamily="34" charset="-122"/>
                <a:cs typeface="IBM Plex Sans" pitchFamily="34" charset="-120"/>
              </a:rPr>
              <a:t>Full RTL: 29 blocks, 7 formats, 2 modes, 4 pipeline stages</a:t>
            </a:r>
            <a:endParaRPr lang="en-US" sz="2200" dirty="0"/>
          </a:p>
        </p:txBody>
      </p:sp>
      <p:sp>
        <p:nvSpPr>
          <p:cNvPr id="5" name="Text 3"/>
          <p:cNvSpPr/>
          <p:nvPr/>
        </p:nvSpPr>
        <p:spPr>
          <a:xfrm>
            <a:off x="812800" y="25525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Plain Verilog-2005, one file per block of the paper's Fig. 3.</a:t>
            </a:r>
            <a:endParaRPr lang="en-US" sz="1600" dirty="0"/>
          </a:p>
        </p:txBody>
      </p:sp>
      <p:sp>
        <p:nvSpPr>
          <p:cNvPr id="6" name="Text 4"/>
          <p:cNvSpPr/>
          <p:nvPr/>
        </p:nvSpPr>
        <p:spPr>
          <a:xfrm>
            <a:off x="812800" y="3090962"/>
            <a:ext cx="10883392"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6F5F1"/>
                </a:solidFill>
                <a:latin typeface="IBM Plex Sans" pitchFamily="34" charset="0"/>
                <a:ea typeface="IBM Plex Sans" pitchFamily="34" charset="-122"/>
                <a:cs typeface="IBM Plex Sans" pitchFamily="34" charset="-120"/>
              </a:rPr>
              <a:t>Verified bit-exact against an independent model</a:t>
            </a:r>
            <a:endParaRPr lang="en-US" sz="2200" dirty="0"/>
          </a:p>
        </p:txBody>
      </p:sp>
      <p:sp>
        <p:nvSpPr>
          <p:cNvPr id="7" name="Text 5"/>
          <p:cNvSpPr/>
          <p:nvPr/>
        </p:nvSpPr>
        <p:spPr>
          <a:xfrm>
            <a:off x="812800" y="35049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10,743 / 10,743 vectors, 13 / 13 spec items, two simulators.</a:t>
            </a:r>
            <a:endParaRPr lang="en-US" sz="1600" dirty="0"/>
          </a:p>
        </p:txBody>
      </p:sp>
      <p:sp>
        <p:nvSpPr>
          <p:cNvPr id="8" name="Text 6"/>
          <p:cNvSpPr/>
          <p:nvPr/>
        </p:nvSpPr>
        <p:spPr>
          <a:xfrm>
            <a:off x="812800" y="4043363"/>
            <a:ext cx="10883392"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6F5F1"/>
                </a:solidFill>
                <a:latin typeface="IBM Plex Sans" pitchFamily="34" charset="0"/>
                <a:ea typeface="IBM Plex Sans" pitchFamily="34" charset="-122"/>
                <a:cs typeface="IBM Plex Sans" pitchFamily="34" charset="-120"/>
              </a:rPr>
              <a:t>Verification found 8 real bugs the original tests missed</a:t>
            </a:r>
            <a:endParaRPr lang="en-US" sz="2200" dirty="0"/>
          </a:p>
        </p:txBody>
      </p:sp>
      <p:sp>
        <p:nvSpPr>
          <p:cNvPr id="9" name="Text 7"/>
          <p:cNvSpPr/>
          <p:nvPr/>
        </p:nvSpPr>
        <p:spPr>
          <a:xfrm>
            <a:off x="812800" y="445730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Each is fixed and has its own regression vector.</a:t>
            </a:r>
            <a:endParaRPr lang="en-US" sz="16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BB0"/>
                </a:solidFill>
                <a:latin typeface="IBM Plex Sans" pitchFamily="34" charset="0"/>
                <a:ea typeface="IBM Plex Sans" pitchFamily="34" charset="-122"/>
                <a:cs typeface="IBM Plex Sans" pitchFamily="34" charset="-120"/>
              </a:rPr>
              <a:t>Next: synthesis in Genus (45 nm) · concurrent leading-zero anticipation · wider mixed-mode accumulator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U_FMA Verification</dc:title>
  <dc:subject>PptxGenJS Presentation</dc:subject>
  <dc:creator>PptxGenJS</dc:creator>
  <cp:lastModifiedBy>PptxGenJS</cp:lastModifiedBy>
  <cp:revision>1</cp:revision>
  <dcterms:created xsi:type="dcterms:W3CDTF">2026-09-30T06:53:18Z</dcterms:created>
  <dcterms:modified xsi:type="dcterms:W3CDTF">2026-09-30T06:53:18Z</dcterms:modified>
</cp:coreProperties>
</file>